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-2251880" y="-436097"/>
            <a:ext cx="14969074" cy="7901422"/>
          </a:xfrm>
          <a:prstGeom prst="roundRect">
            <a:avLst/>
          </a:prstGeom>
          <a:solidFill>
            <a:srgbClr val="08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D7E1"/>
                </a:solidFill>
              </a:defRPr>
            </a:pPr>
            <a:r>
              <a:t>TRM532 • TATA KELOLA PAMERAN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79552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KONSEP PERENCANAAN</a:t>
            </a:r>
            <a:br/>
            <a:r>
              <a:t>PAMERAN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1EBF2"/>
                </a:solidFill>
              </a:defRPr>
            </a:pPr>
            <a:r>
              <a:t>Tata ruang &amp; alur pengunjung • RAB, perizinan &amp; sponsorship • Ideasi &amp; riset • Tema &amp; tujuan • Audiens &amp; pesan • Visual &amp; estetika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663440"/>
            <a:ext cx="3749039" cy="36576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727448"/>
            <a:ext cx="3749039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CDIO: DESIGN • PEMBELAJARAN BERBASIS PROYEK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BECDDA"/>
                </a:solidFill>
              </a:defRPr>
            </a:pPr>
            <a:r>
              <a:t>Program Studi Teknologi Rekayasa Multimedia</a:t>
            </a:r>
            <a:br/>
            <a:r>
              <a:t>Semester Ganjil 2026–2027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38066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rPr dirty="0"/>
              <a:t>TUJUAN PEMBELAJARAN</a:t>
            </a:r>
            <a:br>
              <a:rPr dirty="0"/>
            </a:b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konsep</a:t>
            </a:r>
            <a:r>
              <a:rPr dirty="0"/>
              <a:t> </a:t>
            </a:r>
            <a:r>
              <a:rPr dirty="0" err="1"/>
              <a:t>perencanaan</a:t>
            </a:r>
            <a:r>
              <a:rPr dirty="0"/>
              <a:t> </a:t>
            </a:r>
            <a:r>
              <a:rPr dirty="0" err="1"/>
              <a:t>pameran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Tujuan Pembelajaran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39319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64008" cy="393192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Mahasiswa mampu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67712"/>
            <a:ext cx="306324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• menjelaskan komponen dasar perencanaan;</a:t>
            </a:r>
            <a:br/>
            <a:r>
              <a:t>• menghubungkan tema, tujuan, audiens, ruang, anggaran, dan visual;</a:t>
            </a:r>
            <a:br/>
            <a:r>
              <a:t>• menyusun keputusan awal secara logis;</a:t>
            </a:r>
            <a:br/>
            <a:r>
              <a:t>• menerapkan konsep pada proyek multimedia.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39319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64008" cy="393192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Cara berpikir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6324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Pameran = pengalaman yang dirancang.</a:t>
            </a:r>
            <a:br/>
            <a:br/>
            <a:r>
              <a:t>Bukan sekadar memajang karya, tetapi mengatur:</a:t>
            </a:r>
            <a:br/>
            <a:r>
              <a:t>KARYA → RUANG → AUDIENS → PESAN → OPERASI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39319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64008" cy="393192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Pertanyaan kunci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6324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Apa yang dipamerkan?</a:t>
            </a:r>
            <a:br/>
            <a:r>
              <a:t>Untuk siapa?</a:t>
            </a:r>
            <a:br/>
            <a:r>
              <a:t>Mengapa?</a:t>
            </a:r>
            <a:br/>
            <a:r>
              <a:t>Di mana?</a:t>
            </a:r>
            <a:br/>
            <a:r>
              <a:t>Bagaimana pengalaman dibangun?</a:t>
            </a:r>
            <a:br/>
            <a:r>
              <a:t>Berapa sumber daya yang dibutuhkan?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Peta Konsep Perencanaan Pameran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658368" cy="36576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09928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16642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1F3D"/>
                </a:solidFill>
              </a:defRPr>
            </a:pPr>
            <a:r>
              <a:t>IDEASI &amp; RISET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20391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C7A"/>
                </a:solidFill>
              </a:defRPr>
            </a:pPr>
            <a:r>
              <a:t>Apa konteks dan peluangnya?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658368" cy="36576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709928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9512" y="16642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1F3D"/>
                </a:solidFill>
              </a:defRPr>
            </a:pPr>
            <a:r>
              <a:t>TEMA &amp; TUJUAN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20391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C7A"/>
                </a:solidFill>
              </a:defRPr>
            </a:pPr>
            <a:r>
              <a:t>Apa gagasan dan hasilnya?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45920"/>
            <a:ext cx="658368" cy="36576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83879" y="1709928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166420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1F3D"/>
                </a:solidFill>
              </a:defRPr>
            </a:pPr>
            <a:r>
              <a:t>AUDIENS &amp; PESAN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8552" y="203911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C7A"/>
                </a:solidFill>
              </a:defRPr>
            </a:pPr>
            <a:r>
              <a:t>Untuk siapa dan apa yang diingat?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658368" cy="365760"/>
          </a:xfrm>
          <a:prstGeom prst="roundRect">
            <a:avLst/>
          </a:prstGeom>
          <a:solidFill>
            <a:srgbClr val="2F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858768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0472" y="38130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1F3D"/>
                </a:solidFill>
              </a:defRPr>
            </a:pPr>
            <a:r>
              <a:t>RUANG &amp; ALUR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1879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C7A"/>
                </a:solidFill>
              </a:defRPr>
            </a:pPr>
            <a:r>
              <a:t>Bagaimana pengalaman bergerak?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794760"/>
            <a:ext cx="658368" cy="36576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3858768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38130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1F3D"/>
                </a:solidFill>
              </a:defRPr>
            </a:pPr>
            <a:r>
              <a:t>RAB • IZIN • SPONSOR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41879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C7A"/>
                </a:solidFill>
              </a:defRPr>
            </a:pPr>
            <a:r>
              <a:t>Apa sumber daya dan batasannya?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794760"/>
            <a:ext cx="658368" cy="36576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83879" y="3858768"/>
            <a:ext cx="6583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38130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1F3D"/>
                </a:solidFill>
              </a:defRPr>
            </a:pPr>
            <a:r>
              <a:t>VISUAL &amp; ESTETIKA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8552" y="418795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6C7A"/>
                </a:solidFill>
              </a:defRPr>
            </a:pPr>
            <a:r>
              <a:t>Bagaimana konsep terlihat/terasa?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TATA RUANG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1. Tata Ruang dan Alur Pengunjung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411480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64008" cy="411480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Zona dasar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67712"/>
            <a:ext cx="3063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1. Entrance / orientasi</a:t>
            </a:r>
            <a:br/>
            <a:r>
              <a:t>2. Area karya utama</a:t>
            </a:r>
            <a:br/>
            <a:r>
              <a:t>3. Area karya pendukung</a:t>
            </a:r>
            <a:br/>
            <a:r>
              <a:t>4. Area interaktif</a:t>
            </a:r>
            <a:br/>
            <a:r>
              <a:t>5. Informasi / layanan</a:t>
            </a:r>
            <a:br/>
            <a:r>
              <a:t>6. Exit / feedback</a:t>
            </a:r>
            <a:br/>
            <a:br/>
            <a:r>
              <a:t>Setiap zona memiliki fungsi dan pesan.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411480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64008" cy="411480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Prinsip alur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63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• mudah dipahami</a:t>
            </a:r>
            <a:br/>
            <a:r>
              <a:t>• hindari bottleneck</a:t>
            </a:r>
            <a:br/>
            <a:r>
              <a:t>• ritme ruang bervariasi</a:t>
            </a:r>
            <a:br/>
            <a:r>
              <a:t>• focal point jelas</a:t>
            </a:r>
            <a:br/>
            <a:r>
              <a:t>• akses &amp; keamanan</a:t>
            </a:r>
            <a:br/>
            <a:r>
              <a:t>• pilihan berhenti / lanjut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411480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64008" cy="411480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Khusus multimedia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632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• listrik &amp; kabel</a:t>
            </a:r>
            <a:br/>
            <a:r>
              <a:t>• monitor/proyektor</a:t>
            </a:r>
            <a:br/>
            <a:r>
              <a:t>• audio/headphone</a:t>
            </a:r>
            <a:br/>
            <a:r>
              <a:t>• pencahayaan layar</a:t>
            </a:r>
            <a:br/>
            <a:r>
              <a:t>• jarak pandang</a:t>
            </a:r>
            <a:br/>
            <a:r>
              <a:t>• network</a:t>
            </a:r>
            <a:br/>
            <a:r>
              <a:t>• teknisi &amp; maintenance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TATA RUANG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Mendesain Visitor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572768" cy="36576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892807"/>
            <a:ext cx="15727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ATTRACT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1F3D"/>
                </a:solidFill>
              </a:defRPr>
            </a:pPr>
            <a:r>
              <a:t>Tertarik datang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54680"/>
            <a:ext cx="1572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06C7A"/>
                </a:solidFill>
              </a:defRPr>
            </a:pPr>
            <a:r>
              <a:t>Poster, teaser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41448" y="1828800"/>
            <a:ext cx="1572768" cy="36576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41448" y="1892807"/>
            <a:ext cx="15727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2423160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1F3D"/>
                </a:solidFill>
              </a:defRPr>
            </a:pPr>
            <a:r>
              <a:t>Tahu mulai dari mana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3154680"/>
            <a:ext cx="1572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06C7A"/>
                </a:solidFill>
              </a:defRPr>
            </a:pPr>
            <a:r>
              <a:t>Signage, peta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1828800"/>
            <a:ext cx="1572768" cy="36576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9976" y="1892807"/>
            <a:ext cx="15727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ENGAGE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423160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1F3D"/>
                </a:solidFill>
              </a:defRPr>
            </a:pPr>
            <a:r>
              <a:t>Berinteraksi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3154680"/>
            <a:ext cx="1572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06C7A"/>
                </a:solidFill>
              </a:defRPr>
            </a:pPr>
            <a:r>
              <a:t>Display, demo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18504" y="1828800"/>
            <a:ext cx="1572768" cy="365760"/>
          </a:xfrm>
          <a:prstGeom prst="roundRect">
            <a:avLst/>
          </a:prstGeom>
          <a:solidFill>
            <a:srgbClr val="2F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8504" y="1892807"/>
            <a:ext cx="15727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UNDERSTAND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4" y="2423160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1F3D"/>
                </a:solidFill>
              </a:defRPr>
            </a:pPr>
            <a:r>
              <a:t>Memahami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154680"/>
            <a:ext cx="1572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06C7A"/>
                </a:solidFill>
              </a:defRPr>
            </a:pPr>
            <a:r>
              <a:t>Label, narasi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57032" y="1828800"/>
            <a:ext cx="1572768" cy="36576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2" y="1892807"/>
            <a:ext cx="15727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RESPOND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423160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1F3D"/>
                </a:solidFill>
              </a:defRPr>
            </a:pPr>
            <a:r>
              <a:t>Memberi respons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154680"/>
            <a:ext cx="1572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06C7A"/>
                </a:solidFill>
              </a:defRPr>
            </a:pPr>
            <a:r>
              <a:t>QR, feedback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95560" y="1828800"/>
            <a:ext cx="1572768" cy="36576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95560" y="1892807"/>
            <a:ext cx="15727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REMEMBER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2423160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81F3D"/>
                </a:solidFill>
              </a:defRPr>
            </a:pPr>
            <a:r>
              <a:t>Mengingat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3154680"/>
            <a:ext cx="157276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606C7A"/>
                </a:solidFill>
              </a:defRPr>
            </a:pPr>
            <a:r>
              <a:t>Dokumentasi, share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4572000"/>
            <a:ext cx="850392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828800" y="4572000"/>
            <a:ext cx="64008" cy="91440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29968" y="4718304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Pertanyaan desain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968" y="5193792"/>
            <a:ext cx="81381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Di titik mana pengunjung bisa bingung, bosan, menunggu terlalu lama, atau kehilangan pesan utama?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RAB • FINANSIAL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2. RAB: Mengubah Konsep Menjadi Angka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64008" cy="416052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Kelompok biaya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• venue &amp; perizinan</a:t>
            </a:r>
            <a:br/>
            <a:r>
              <a:t>• produksi/display</a:t>
            </a:r>
            <a:br/>
            <a:r>
              <a:t>• peralatan multimedia</a:t>
            </a:r>
            <a:br/>
            <a:r>
              <a:t>• desain &amp; printing</a:t>
            </a:r>
            <a:br/>
            <a:r>
              <a:t>• SDM/honor</a:t>
            </a:r>
            <a:br/>
            <a:r>
              <a:t>• transport/logistik</a:t>
            </a:r>
            <a:br/>
            <a:r>
              <a:t>• publikasi &amp; dokumentasi</a:t>
            </a:r>
            <a:br/>
            <a:r>
              <a:t>• konsumsi</a:t>
            </a:r>
            <a:br/>
            <a:r>
              <a:t>• keamanan &amp; contingency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64008" cy="416052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Rumus sederhana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TOTAL RAB = Σ (Volume × Harga Satuan)</a:t>
            </a:r>
            <a:br/>
            <a:r>
              <a:t>+ biaya lain + dana cadangan</a:t>
            </a:r>
            <a:br/>
            <a:br/>
            <a:r>
              <a:t>Pisahkan fixed cost, variable cost, dan in-kind support.</a:t>
            </a:r>
            <a:br/>
            <a:br/>
            <a:r>
              <a:t>Asumsi harga harus transparan.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64008" cy="416052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Untuk produk multimedia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Proyektor • monitor • panel • signage • internet • teknisi • audio • backup device.</a:t>
            </a:r>
            <a:br/>
            <a:br/>
            <a:r>
              <a:t>→ Setiap keputusan desain harus bisa diterjemahkan menjadi kebutuhan sumber daya.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RAB •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Perizinan dan Sponsorship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64008" cy="416052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Perizinan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Petakan sejak awal:</a:t>
            </a:r>
            <a:br/>
            <a:r>
              <a:t>• penggunaan venue</a:t>
            </a:r>
            <a:br/>
            <a:r>
              <a:t>• persetujuan institusi</a:t>
            </a:r>
            <a:br/>
            <a:r>
              <a:t>• kapasitas &amp; keselamatan</a:t>
            </a:r>
            <a:br/>
            <a:r>
              <a:t>• listrik/peralatan</a:t>
            </a:r>
            <a:br/>
            <a:r>
              <a:t>• aktivitas publik bila relevan</a:t>
            </a:r>
            <a:br/>
            <a:r>
              <a:t>• hak penggunaan karya, musik, foto, video</a:t>
            </a:r>
            <a:br/>
            <a:r>
              <a:t>• ketentuan brand/sponsor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64008" cy="416052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Sponsorship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6324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rPr dirty="0"/>
              <a:t>Cari brand-fit, </a:t>
            </a:r>
            <a:r>
              <a:rPr dirty="0" err="1"/>
              <a:t>misalnya</a:t>
            </a:r>
            <a:r>
              <a:rPr dirty="0"/>
              <a:t>:</a:t>
            </a:r>
            <a:br>
              <a:rPr dirty="0"/>
            </a:br>
            <a:r>
              <a:rPr dirty="0"/>
              <a:t>• </a:t>
            </a:r>
            <a:r>
              <a:rPr dirty="0" err="1"/>
              <a:t>teknologi</a:t>
            </a:r>
            <a:r>
              <a:rPr dirty="0"/>
              <a:t>/display</a:t>
            </a:r>
            <a:br>
              <a:rPr dirty="0"/>
            </a:br>
            <a:r>
              <a:rPr dirty="0"/>
              <a:t>• printing</a:t>
            </a:r>
            <a:br>
              <a:rPr dirty="0"/>
            </a:br>
            <a:r>
              <a:rPr dirty="0"/>
              <a:t>• internet</a:t>
            </a:r>
            <a:br>
              <a:rPr dirty="0"/>
            </a:br>
            <a:r>
              <a:rPr dirty="0"/>
              <a:t>• F&amp;B</a:t>
            </a:r>
            <a:br>
              <a:rPr dirty="0"/>
            </a:br>
            <a:r>
              <a:rPr dirty="0"/>
              <a:t>• media partner</a:t>
            </a:r>
            <a:br>
              <a:rPr dirty="0"/>
            </a:br>
            <a:r>
              <a:rPr dirty="0"/>
              <a:t>• </a:t>
            </a:r>
            <a:r>
              <a:rPr dirty="0" err="1"/>
              <a:t>komunitas</a:t>
            </a:r>
            <a:r>
              <a:rPr dirty="0"/>
              <a:t> </a:t>
            </a:r>
            <a:r>
              <a:rPr dirty="0" err="1"/>
              <a:t>kreatif</a:t>
            </a:r>
            <a:br>
              <a:rPr dirty="0"/>
            </a:br>
            <a:br>
              <a:rPr dirty="0"/>
            </a:br>
            <a:r>
              <a:rPr dirty="0">
                <a:highlight>
                  <a:srgbClr val="FFFF00"/>
                </a:highlight>
              </a:rPr>
              <a:t>Jual </a:t>
            </a:r>
            <a:r>
              <a:rPr dirty="0" err="1">
                <a:highlight>
                  <a:srgbClr val="FFFF00"/>
                </a:highlight>
              </a:rPr>
              <a:t>nilai</a:t>
            </a:r>
            <a:r>
              <a:rPr dirty="0">
                <a:highlight>
                  <a:srgbClr val="FFFF00"/>
                </a:highlight>
              </a:rPr>
              <a:t> &amp; benefit, </a:t>
            </a:r>
            <a:r>
              <a:rPr dirty="0" err="1">
                <a:highlight>
                  <a:srgbClr val="FFFF00"/>
                </a:highlight>
              </a:rPr>
              <a:t>bukan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hanya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permintaan</a:t>
            </a:r>
            <a:r>
              <a:rPr dirty="0">
                <a:highlight>
                  <a:srgbClr val="FFFF00"/>
                </a:highlight>
              </a:rPr>
              <a:t> dana.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64008" cy="416052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Proposal sponsor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632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rPr dirty="0" err="1"/>
              <a:t>Profil</a:t>
            </a:r>
            <a:r>
              <a:rPr dirty="0"/>
              <a:t> </a:t>
            </a:r>
            <a:r>
              <a:rPr dirty="0" err="1"/>
              <a:t>proyek</a:t>
            </a:r>
            <a:r>
              <a:rPr dirty="0"/>
              <a:t> → </a:t>
            </a:r>
            <a:r>
              <a:rPr dirty="0" err="1"/>
              <a:t>konsep</a:t>
            </a:r>
            <a:r>
              <a:rPr dirty="0"/>
              <a:t> → </a:t>
            </a:r>
            <a:r>
              <a:rPr dirty="0" err="1"/>
              <a:t>audiens</a:t>
            </a:r>
            <a:r>
              <a:rPr dirty="0"/>
              <a:t> → </a:t>
            </a:r>
            <a:r>
              <a:rPr dirty="0" err="1"/>
              <a:t>kebutuhan</a:t>
            </a:r>
            <a:r>
              <a:rPr dirty="0"/>
              <a:t> → </a:t>
            </a:r>
            <a:r>
              <a:rPr dirty="0" err="1"/>
              <a:t>paket</a:t>
            </a:r>
            <a:r>
              <a:rPr dirty="0"/>
              <a:t> → benefit → timeline → PIC.</a:t>
            </a:r>
            <a:br>
              <a:rPr dirty="0"/>
            </a:br>
            <a:br>
              <a:rPr dirty="0"/>
            </a:br>
            <a:r>
              <a:rPr dirty="0"/>
              <a:t>Benefit: logo, booth, activation, mention, sampling, demo, </a:t>
            </a:r>
            <a:r>
              <a:rPr dirty="0" err="1"/>
              <a:t>konten</a:t>
            </a:r>
            <a:r>
              <a:rPr dirty="0"/>
              <a:t> </a:t>
            </a:r>
            <a:r>
              <a:rPr dirty="0" err="1"/>
              <a:t>kolaboratif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>
                <a:highlight>
                  <a:srgbClr val="FFFF00"/>
                </a:highlight>
              </a:rPr>
              <a:t>Pastikan</a:t>
            </a:r>
            <a:r>
              <a:rPr dirty="0">
                <a:highlight>
                  <a:srgbClr val="FFFF00"/>
                </a:highlight>
              </a:rPr>
              <a:t> benefit </a:t>
            </a:r>
            <a:r>
              <a:rPr dirty="0" err="1">
                <a:highlight>
                  <a:srgbClr val="FFFF00"/>
                </a:highlight>
              </a:rPr>
              <a:t>realistis</a:t>
            </a:r>
            <a:r>
              <a:rPr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IDEASI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3. Ideasi dan Riset Awal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64008" cy="416052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Sumber 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67712"/>
            <a:ext cx="3063240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rPr dirty="0"/>
              <a:t>• </a:t>
            </a:r>
            <a:r>
              <a:rPr dirty="0" err="1"/>
              <a:t>isu</a:t>
            </a:r>
            <a:r>
              <a:rPr dirty="0"/>
              <a:t> </a:t>
            </a:r>
            <a:r>
              <a:rPr dirty="0" err="1"/>
              <a:t>sosial</a:t>
            </a:r>
            <a:r>
              <a:rPr dirty="0"/>
              <a:t>/</a:t>
            </a:r>
            <a:r>
              <a:rPr dirty="0" err="1"/>
              <a:t>budaya</a:t>
            </a:r>
            <a:br>
              <a:rPr dirty="0"/>
            </a:br>
            <a:r>
              <a:rPr dirty="0"/>
              <a:t>• </a:t>
            </a:r>
            <a:r>
              <a:rPr dirty="0" err="1"/>
              <a:t>tren</a:t>
            </a:r>
            <a:r>
              <a:rPr dirty="0"/>
              <a:t> </a:t>
            </a:r>
            <a:r>
              <a:rPr dirty="0" err="1"/>
              <a:t>teknologi</a:t>
            </a:r>
            <a:br>
              <a:rPr dirty="0"/>
            </a:br>
            <a:r>
              <a:rPr dirty="0"/>
              <a:t>• </a:t>
            </a:r>
            <a:r>
              <a:rPr dirty="0" err="1"/>
              <a:t>karakter</a:t>
            </a:r>
            <a:r>
              <a:rPr dirty="0"/>
              <a:t> </a:t>
            </a:r>
            <a:r>
              <a:rPr dirty="0" err="1"/>
              <a:t>karya</a:t>
            </a:r>
            <a:br>
              <a:rPr dirty="0"/>
            </a:br>
            <a:r>
              <a:rPr dirty="0"/>
              <a:t>• </a:t>
            </a:r>
            <a:r>
              <a:rPr dirty="0" err="1"/>
              <a:t>identitas</a:t>
            </a:r>
            <a:r>
              <a:rPr dirty="0"/>
              <a:t> brand/</a:t>
            </a:r>
            <a:r>
              <a:rPr dirty="0" err="1"/>
              <a:t>proyek</a:t>
            </a:r>
            <a:br>
              <a:rPr dirty="0"/>
            </a:br>
            <a:r>
              <a:rPr dirty="0"/>
              <a:t>• </a:t>
            </a:r>
            <a:r>
              <a:rPr dirty="0" err="1"/>
              <a:t>kebutuhan</a:t>
            </a:r>
            <a:r>
              <a:rPr dirty="0"/>
              <a:t> </a:t>
            </a:r>
            <a:r>
              <a:rPr dirty="0" err="1"/>
              <a:t>audiens</a:t>
            </a:r>
            <a:br>
              <a:rPr dirty="0"/>
            </a:br>
            <a:r>
              <a:rPr dirty="0"/>
              <a:t>• venue</a:t>
            </a:r>
            <a:br>
              <a:rPr dirty="0"/>
            </a:br>
            <a:r>
              <a:rPr dirty="0"/>
              <a:t>• momentum</a:t>
            </a:r>
            <a:br>
              <a:rPr dirty="0"/>
            </a:br>
            <a:br>
              <a:rPr dirty="0"/>
            </a:br>
            <a:r>
              <a:rPr dirty="0">
                <a:highlight>
                  <a:srgbClr val="FFFF00"/>
                </a:highlight>
              </a:rPr>
              <a:t>Mulai </a:t>
            </a:r>
            <a:r>
              <a:rPr dirty="0" err="1">
                <a:highlight>
                  <a:srgbClr val="FFFF00"/>
                </a:highlight>
              </a:rPr>
              <a:t>dari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konteks</a:t>
            </a:r>
            <a:r>
              <a:rPr dirty="0">
                <a:highlight>
                  <a:srgbClr val="FFFF00"/>
                </a:highlight>
              </a:rPr>
              <a:t>, </a:t>
            </a:r>
            <a:r>
              <a:rPr dirty="0" err="1">
                <a:highlight>
                  <a:srgbClr val="FFFF00"/>
                </a:highlight>
              </a:rPr>
              <a:t>bukan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dekorasi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64008" cy="416052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Riset awal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6324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rPr dirty="0"/>
              <a:t>Cari </a:t>
            </a:r>
            <a:r>
              <a:rPr dirty="0" err="1"/>
              <a:t>bukti</a:t>
            </a:r>
            <a:r>
              <a:rPr dirty="0"/>
              <a:t> </a:t>
            </a:r>
            <a:r>
              <a:rPr dirty="0" err="1"/>
              <a:t>tentang</a:t>
            </a:r>
            <a:r>
              <a:rPr dirty="0"/>
              <a:t>:</a:t>
            </a:r>
            <a:br>
              <a:rPr dirty="0"/>
            </a:br>
            <a:r>
              <a:rPr dirty="0"/>
              <a:t>• </a:t>
            </a:r>
            <a:r>
              <a:rPr dirty="0" err="1"/>
              <a:t>audiens</a:t>
            </a:r>
            <a:br>
              <a:rPr dirty="0"/>
            </a:br>
            <a:r>
              <a:rPr dirty="0"/>
              <a:t>• </a:t>
            </a:r>
            <a:r>
              <a:rPr dirty="0" err="1"/>
              <a:t>pameran</a:t>
            </a:r>
            <a:r>
              <a:rPr dirty="0"/>
              <a:t> </a:t>
            </a:r>
            <a:r>
              <a:rPr dirty="0" err="1"/>
              <a:t>pembanding</a:t>
            </a:r>
            <a:br>
              <a:rPr dirty="0"/>
            </a:br>
            <a:r>
              <a:rPr dirty="0"/>
              <a:t>• venue</a:t>
            </a:r>
            <a:br>
              <a:rPr dirty="0"/>
            </a:br>
            <a:r>
              <a:rPr dirty="0"/>
              <a:t>• </a:t>
            </a:r>
            <a:r>
              <a:rPr dirty="0" err="1"/>
              <a:t>teknologi</a:t>
            </a:r>
            <a:br>
              <a:rPr dirty="0"/>
            </a:br>
            <a:r>
              <a:rPr dirty="0"/>
              <a:t>• </a:t>
            </a:r>
            <a:r>
              <a:rPr dirty="0" err="1"/>
              <a:t>biaya</a:t>
            </a:r>
            <a:br>
              <a:rPr dirty="0"/>
            </a:br>
            <a:r>
              <a:rPr dirty="0"/>
              <a:t>• </a:t>
            </a:r>
            <a:r>
              <a:rPr dirty="0" err="1"/>
              <a:t>mitra</a:t>
            </a:r>
            <a:br>
              <a:rPr dirty="0"/>
            </a:br>
            <a:r>
              <a:rPr dirty="0"/>
              <a:t>• </a:t>
            </a:r>
            <a:r>
              <a:rPr dirty="0" err="1"/>
              <a:t>risiko</a:t>
            </a:r>
            <a:br>
              <a:rPr dirty="0"/>
            </a:br>
            <a:br>
              <a:rPr dirty="0"/>
            </a:br>
            <a:r>
              <a:rPr dirty="0">
                <a:highlight>
                  <a:srgbClr val="FFFF00"/>
                </a:highlight>
              </a:rPr>
              <a:t>Riset </a:t>
            </a:r>
            <a:r>
              <a:rPr dirty="0" err="1">
                <a:highlight>
                  <a:srgbClr val="FFFF00"/>
                </a:highlight>
              </a:rPr>
              <a:t>mengurangi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keputusan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berbasis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asumsi</a:t>
            </a:r>
            <a:r>
              <a:rPr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64008" cy="416052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Output riset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6324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rPr dirty="0"/>
              <a:t>INSIGHT → OPPORTUNITY → PROBLEM → IDEA</a:t>
            </a:r>
            <a:br>
              <a:rPr dirty="0"/>
            </a:br>
            <a:br>
              <a:rPr dirty="0"/>
            </a:br>
            <a:r>
              <a:rPr dirty="0" err="1">
                <a:highlight>
                  <a:srgbClr val="FFFF00"/>
                </a:highlight>
              </a:rPr>
              <a:t>Contoh</a:t>
            </a:r>
            <a:r>
              <a:rPr dirty="0">
                <a:highlight>
                  <a:srgbClr val="FFFF00"/>
                </a:highlight>
              </a:rPr>
              <a:t>:</a:t>
            </a:r>
            <a:br>
              <a:rPr dirty="0">
                <a:highlight>
                  <a:srgbClr val="FFFF00"/>
                </a:highlight>
              </a:rPr>
            </a:br>
            <a:r>
              <a:rPr dirty="0" err="1">
                <a:highlight>
                  <a:srgbClr val="FFFF00"/>
                </a:highlight>
              </a:rPr>
              <a:t>Konten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interaktif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diminati</a:t>
            </a:r>
            <a:r>
              <a:rPr dirty="0">
                <a:highlight>
                  <a:srgbClr val="FFFF00"/>
                </a:highlight>
              </a:rPr>
              <a:t> → </a:t>
            </a:r>
            <a:r>
              <a:rPr dirty="0" err="1">
                <a:highlight>
                  <a:srgbClr val="FFFF00"/>
                </a:highlight>
              </a:rPr>
              <a:t>peluang</a:t>
            </a:r>
            <a:r>
              <a:rPr dirty="0">
                <a:highlight>
                  <a:srgbClr val="FFFF00"/>
                </a:highlight>
              </a:rPr>
              <a:t> experiential → </a:t>
            </a:r>
            <a:r>
              <a:rPr dirty="0" err="1">
                <a:highlight>
                  <a:srgbClr val="FFFF00"/>
                </a:highlight>
              </a:rPr>
              <a:t>karya</a:t>
            </a:r>
            <a:r>
              <a:rPr dirty="0">
                <a:highlight>
                  <a:srgbClr val="FFFF00"/>
                </a:highlight>
              </a:rPr>
              <a:t> digital </a:t>
            </a:r>
            <a:r>
              <a:rPr dirty="0" err="1">
                <a:highlight>
                  <a:srgbClr val="FFFF00"/>
                </a:highlight>
              </a:rPr>
              <a:t>sering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pasif</a:t>
            </a:r>
            <a:r>
              <a:rPr dirty="0">
                <a:highlight>
                  <a:srgbClr val="FFFF00"/>
                </a:highlight>
              </a:rPr>
              <a:t> → interactive showcase.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KONSEP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4. Penentuan Tema dan Tujuan Pameran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64008" cy="416052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Tema yang kuat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67712"/>
            <a:ext cx="306324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rPr dirty="0"/>
              <a:t>• </a:t>
            </a:r>
            <a:r>
              <a:rPr dirty="0" err="1"/>
              <a:t>relevan</a:t>
            </a:r>
            <a:r>
              <a:rPr dirty="0"/>
              <a:t> </a:t>
            </a:r>
            <a:r>
              <a:rPr dirty="0" err="1"/>
              <a:t>dengan</a:t>
            </a:r>
            <a:r>
              <a:rPr dirty="0"/>
              <a:t> </a:t>
            </a:r>
            <a:r>
              <a:rPr dirty="0" err="1"/>
              <a:t>karya</a:t>
            </a:r>
            <a:br>
              <a:rPr dirty="0"/>
            </a:br>
            <a:r>
              <a:rPr dirty="0"/>
              <a:t>• </a:t>
            </a: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dikomunikasikan</a:t>
            </a:r>
            <a:br>
              <a:rPr dirty="0"/>
            </a:br>
            <a:r>
              <a:rPr dirty="0"/>
              <a:t>• </a:t>
            </a:r>
            <a:r>
              <a:rPr dirty="0" err="1"/>
              <a:t>cukup</a:t>
            </a:r>
            <a:r>
              <a:rPr dirty="0"/>
              <a:t> </a:t>
            </a:r>
            <a:r>
              <a:rPr dirty="0" err="1"/>
              <a:t>spesifik</a:t>
            </a:r>
            <a:br>
              <a:rPr dirty="0"/>
            </a:br>
            <a:r>
              <a:rPr dirty="0"/>
              <a:t>• </a:t>
            </a:r>
            <a:r>
              <a:rPr dirty="0" err="1"/>
              <a:t>membuka</a:t>
            </a:r>
            <a:r>
              <a:rPr dirty="0"/>
              <a:t> </a:t>
            </a:r>
            <a:r>
              <a:rPr dirty="0" err="1"/>
              <a:t>ruang</a:t>
            </a:r>
            <a:r>
              <a:rPr dirty="0"/>
              <a:t> </a:t>
            </a:r>
            <a:r>
              <a:rPr dirty="0" err="1"/>
              <a:t>kuratorial</a:t>
            </a:r>
            <a:br>
              <a:rPr dirty="0"/>
            </a:br>
            <a:r>
              <a:rPr dirty="0"/>
              <a:t>• </a:t>
            </a:r>
            <a:r>
              <a:rPr dirty="0" err="1"/>
              <a:t>dapat</a:t>
            </a:r>
            <a:r>
              <a:rPr dirty="0"/>
              <a:t> </a:t>
            </a:r>
            <a:r>
              <a:rPr dirty="0" err="1"/>
              <a:t>diterjemahkan</a:t>
            </a:r>
            <a:r>
              <a:rPr dirty="0"/>
              <a:t> </a:t>
            </a:r>
            <a:r>
              <a:rPr dirty="0" err="1"/>
              <a:t>ke</a:t>
            </a:r>
            <a:r>
              <a:rPr dirty="0"/>
              <a:t> visual &amp; </a:t>
            </a:r>
            <a:r>
              <a:rPr dirty="0" err="1"/>
              <a:t>ruang</a:t>
            </a:r>
            <a:br>
              <a:rPr dirty="0"/>
            </a:br>
            <a:br>
              <a:rPr dirty="0"/>
            </a:br>
            <a:r>
              <a:rPr dirty="0" err="1">
                <a:highlight>
                  <a:srgbClr val="FFFF00"/>
                </a:highlight>
              </a:rPr>
              <a:t>Konteks</a:t>
            </a:r>
            <a:r>
              <a:rPr dirty="0">
                <a:highlight>
                  <a:srgbClr val="FFFF00"/>
                </a:highlight>
              </a:rPr>
              <a:t> + </a:t>
            </a:r>
            <a:r>
              <a:rPr dirty="0" err="1">
                <a:highlight>
                  <a:srgbClr val="FFFF00"/>
                </a:highlight>
              </a:rPr>
              <a:t>gagasan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utama</a:t>
            </a:r>
            <a:r>
              <a:rPr dirty="0">
                <a:highlight>
                  <a:srgbClr val="FFFF00"/>
                </a:highlight>
              </a:rPr>
              <a:t> + </a:t>
            </a:r>
            <a:r>
              <a:rPr dirty="0" err="1">
                <a:highlight>
                  <a:srgbClr val="FFFF00"/>
                </a:highlight>
              </a:rPr>
              <a:t>sudut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pandang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64008" cy="416052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Tujuan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6324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rPr dirty="0" err="1"/>
              <a:t>Gunakan</a:t>
            </a:r>
            <a:r>
              <a:rPr dirty="0"/>
              <a:t> kata </a:t>
            </a:r>
            <a:r>
              <a:rPr dirty="0" err="1"/>
              <a:t>kerja</a:t>
            </a:r>
            <a:r>
              <a:rPr dirty="0"/>
              <a:t>:</a:t>
            </a:r>
            <a:br>
              <a:rPr dirty="0"/>
            </a:br>
            <a:r>
              <a:rPr dirty="0"/>
              <a:t>• </a:t>
            </a:r>
            <a:r>
              <a:rPr dirty="0" err="1"/>
              <a:t>memperkenalkan</a:t>
            </a:r>
            <a:br>
              <a:rPr dirty="0"/>
            </a:br>
            <a:r>
              <a:rPr dirty="0"/>
              <a:t>• </a:t>
            </a:r>
            <a:r>
              <a:rPr dirty="0" err="1"/>
              <a:t>mengedukasi</a:t>
            </a:r>
            <a:br>
              <a:rPr dirty="0"/>
            </a:br>
            <a:r>
              <a:rPr dirty="0"/>
              <a:t>• </a:t>
            </a:r>
            <a:r>
              <a:rPr dirty="0" err="1"/>
              <a:t>mengajak</a:t>
            </a:r>
            <a:br>
              <a:rPr dirty="0"/>
            </a:br>
            <a:r>
              <a:rPr dirty="0"/>
              <a:t>• </a:t>
            </a:r>
            <a:r>
              <a:rPr dirty="0" err="1"/>
              <a:t>mendemonstrasikan</a:t>
            </a:r>
            <a:br>
              <a:rPr dirty="0"/>
            </a:br>
            <a:r>
              <a:rPr dirty="0"/>
              <a:t>• </a:t>
            </a:r>
            <a:r>
              <a:rPr dirty="0" err="1"/>
              <a:t>membangun</a:t>
            </a:r>
            <a:r>
              <a:rPr dirty="0"/>
              <a:t> awareness</a:t>
            </a:r>
            <a:br>
              <a:rPr dirty="0"/>
            </a:br>
            <a:r>
              <a:rPr dirty="0"/>
              <a:t>• </a:t>
            </a:r>
            <a:r>
              <a:rPr dirty="0" err="1"/>
              <a:t>menghasilkan</a:t>
            </a:r>
            <a:r>
              <a:rPr dirty="0"/>
              <a:t> engagement</a:t>
            </a:r>
            <a:br>
              <a:rPr dirty="0"/>
            </a:br>
            <a:r>
              <a:rPr dirty="0"/>
              <a:t>• </a:t>
            </a:r>
            <a:r>
              <a:rPr dirty="0" err="1"/>
              <a:t>mendokumentasikan</a:t>
            </a:r>
            <a:br>
              <a:rPr dirty="0"/>
            </a:br>
            <a:br>
              <a:rPr dirty="0"/>
            </a:br>
            <a:r>
              <a:rPr dirty="0">
                <a:highlight>
                  <a:srgbClr val="FFFF00"/>
                </a:highlight>
              </a:rPr>
              <a:t>Tujuan </a:t>
            </a:r>
            <a:r>
              <a:rPr dirty="0" err="1">
                <a:highlight>
                  <a:srgbClr val="FFFF00"/>
                </a:highlight>
              </a:rPr>
              <a:t>harus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dapat</a:t>
            </a:r>
            <a:r>
              <a:rPr dirty="0">
                <a:highlight>
                  <a:srgbClr val="FFFF00"/>
                </a:highlight>
              </a:rPr>
              <a:t> </a:t>
            </a:r>
            <a:r>
              <a:rPr dirty="0" err="1">
                <a:highlight>
                  <a:srgbClr val="FFFF00"/>
                </a:highlight>
              </a:rPr>
              <a:t>diamati</a:t>
            </a:r>
            <a:r>
              <a:rPr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64008" cy="416052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Uji tema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Apakah tema menjelaskan “mengapa”?</a:t>
            </a:r>
            <a:br/>
            <a:br/>
            <a:r>
              <a:t>Apakah karya mendukung?</a:t>
            </a:r>
            <a:br/>
            <a:br/>
            <a:r>
              <a:t>Apakah audiens memahami?</a:t>
            </a:r>
            <a:br/>
            <a:br/>
            <a:r>
              <a:t>Apakah tema dapat menjadi narasi ruang dan visual?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STUDI KASUS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Contoh: Tema untuk Produk Multimedia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425196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64008" cy="425196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Premis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67712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Karya: UI/UX • animasi • video • fotografi • motion graphic • instalasi interaktif.</a:t>
            </a:r>
            <a:br/>
            <a:br/>
            <a:r>
              <a:t>Masalah:</a:t>
            </a:r>
            <a:br/>
            <a:r>
              <a:t>Karya beragam sehingga audiens sulit melihat benang merah.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425196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64008" cy="425196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Tema contoh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“Masa Depan yang Kita Rancang”</a:t>
            </a:r>
            <a:br/>
            <a:br/>
            <a:r>
              <a:t>Gagasan:</a:t>
            </a:r>
            <a:br/>
            <a:r>
              <a:t>Teknologi menjadi medium untuk membayangkan dan membentuk pengalaman masa depan.</a:t>
            </a:r>
            <a:br/>
            <a:br/>
            <a:r>
              <a:t>Tema memayungi karya berbeda.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425196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64008" cy="425196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Turunan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Kuratorial: kelompokkan berdasarkan isu/experience.</a:t>
            </a:r>
            <a:br/>
            <a:br/>
            <a:r>
              <a:t>Ruang: Imagine → Experience → Reflect.</a:t>
            </a:r>
            <a:br/>
            <a:br/>
            <a:r>
              <a:t>Visual: bahasa futuristik yang tetap terbaca.</a:t>
            </a:r>
            <a:br/>
            <a:br/>
            <a:r>
              <a:t>Interaksi: karya tertentu menjadi anchor experience.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AUDIENS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5. Target Audiens dan Pesan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64008" cy="416052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Segmentasi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Primary:</a:t>
            </a:r>
            <a:br/>
            <a:r>
              <a:t>Mahasiswa &amp; generasi muda</a:t>
            </a:r>
            <a:br/>
            <a:br/>
            <a:r>
              <a:t>Secondary:</a:t>
            </a:r>
            <a:br/>
            <a:r>
              <a:t>Dosen, industri, komunitas, calon mahasiswa, masyarakat umum</a:t>
            </a:r>
            <a:br/>
            <a:br/>
            <a:r>
              <a:t>Jangan mendesain untuk “semua orang”.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64008" cy="416052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Pesan utama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Formula:</a:t>
            </a:r>
            <a:br/>
            <a:r>
              <a:t>“Setelah mengunjungi pameran, audiens diharapkan memahami/merasakan bahwa …”</a:t>
            </a:r>
            <a:br/>
            <a:br/>
            <a:r>
              <a:t>Satu pesan utama lebih kuat daripada banyak pesan yang saling bersaing.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64008" cy="416052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Pesan → pengalaman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Pesan menentukan:</a:t>
            </a:r>
            <a:br/>
            <a:r>
              <a:t>• urutan karya</a:t>
            </a:r>
            <a:br/>
            <a:r>
              <a:t>• teks interpretasi</a:t>
            </a:r>
            <a:br/>
            <a:r>
              <a:t>• interaksi</a:t>
            </a:r>
            <a:br/>
            <a:r>
              <a:t>• visual</a:t>
            </a:r>
            <a:br/>
            <a:r>
              <a:t>• signage</a:t>
            </a:r>
            <a:br/>
            <a:r>
              <a:t>• media sosial</a:t>
            </a:r>
            <a:br/>
            <a:r>
              <a:t>• call-to-action</a:t>
            </a:r>
            <a:br/>
            <a:br/>
            <a:r>
              <a:t>Semua touchpoint harus konsisten.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AUDIENS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Persona Pengunjung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4008" cy="416052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Nadia • 20 tahun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Mahasiswa multimedia.</a:t>
            </a:r>
            <a:br/>
            <a:br/>
            <a:r>
              <a:t>Motivasi: inspirasi, konten interaktif, social sharing.</a:t>
            </a:r>
            <a:br/>
            <a:br/>
            <a:r>
              <a:t>Kebutuhan: signage jelas, spot visual, pengalaman singkat namun berkesan.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64008" cy="416052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Raka • 32 tahun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Praktisi industri kreatif.</a:t>
            </a:r>
            <a:br/>
            <a:br/>
            <a:r>
              <a:t>Motivasi: melihat kualitas karya, mencari talenta, networking.</a:t>
            </a:r>
            <a:br/>
            <a:br/>
            <a:r>
              <a:t>Kebutuhan: informasi karya, katalog/QR, area networking.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64008" cy="416052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Implikasi desain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Jika keduanya penting:</a:t>
            </a:r>
            <a:br/>
            <a:br/>
            <a:r>
              <a:t>→ sediakan pengalaman cepat + informasi mendalam.</a:t>
            </a:r>
            <a:br/>
            <a:br/>
            <a:r>
              <a:t>Contoh:</a:t>
            </a:r>
            <a:br/>
            <a:r>
              <a:t>Visual utama → short label → QR → detail digital.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6. Konsep Visual dan Estetika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64008" cy="416052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Elemen visual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• warna</a:t>
            </a:r>
            <a:br/>
            <a:r>
              <a:t>• tipografi</a:t>
            </a:r>
            <a:br/>
            <a:r>
              <a:t>• grid/layout</a:t>
            </a:r>
            <a:br/>
            <a:r>
              <a:t>• bentuk &amp; garis</a:t>
            </a:r>
            <a:br/>
            <a:r>
              <a:t>• imagery</a:t>
            </a:r>
            <a:br/>
            <a:r>
              <a:t>• ikon &amp; signage</a:t>
            </a:r>
            <a:br/>
            <a:r>
              <a:t>• material</a:t>
            </a:r>
            <a:br/>
            <a:r>
              <a:t>• lighting</a:t>
            </a:r>
            <a:br/>
            <a:br/>
            <a:r>
              <a:t>Tentukan visual language sebelum produksi aset.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64008" cy="416052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Estetika ruang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• focal point</a:t>
            </a:r>
            <a:br/>
            <a:r>
              <a:t>• ritme &amp; repetisi</a:t>
            </a:r>
            <a:br/>
            <a:r>
              <a:t>• skala</a:t>
            </a:r>
            <a:br/>
            <a:r>
              <a:t>• keseimbangan</a:t>
            </a:r>
            <a:br/>
            <a:r>
              <a:t>• kontras</a:t>
            </a:r>
            <a:br/>
            <a:r>
              <a:t>• material</a:t>
            </a:r>
            <a:br/>
            <a:r>
              <a:t>• cahaya</a:t>
            </a:r>
            <a:br/>
            <a:r>
              <a:t>• ruang kosong</a:t>
            </a:r>
            <a:br/>
            <a:br/>
            <a:r>
              <a:t>Estetika tetap melayani keterbacaan dan karya.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64008" cy="416052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Multimedia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Screen ≠ sekadar layar.</a:t>
            </a:r>
            <a:br/>
            <a:br/>
            <a:r>
              <a:t>Tentukan:</a:t>
            </a:r>
            <a:br/>
            <a:r>
              <a:t>ukuran • brightness • viewing distance • audio • interaction • loading • backup • accessibility.</a:t>
            </a:r>
            <a:br/>
            <a:br/>
            <a:r>
              <a:t>Teknologi harus menyatu dengan pengalaman.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Dari Moodboard ke Visual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45920"/>
            <a:ext cx="64008" cy="416052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Moodboard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Kumpulkan referensi:</a:t>
            </a:r>
            <a:br/>
            <a:r>
              <a:t>• atmosfer</a:t>
            </a:r>
            <a:br/>
            <a:r>
              <a:t>• material</a:t>
            </a:r>
            <a:br/>
            <a:r>
              <a:t>• warna</a:t>
            </a:r>
            <a:br/>
            <a:r>
              <a:t>• tipografi</a:t>
            </a:r>
            <a:br/>
            <a:r>
              <a:t>• bentuk ruang</a:t>
            </a:r>
            <a:br/>
            <a:r>
              <a:t>• display</a:t>
            </a:r>
            <a:br/>
            <a:r>
              <a:t>• interaksi</a:t>
            </a:r>
            <a:br/>
            <a:br/>
            <a:r>
              <a:t>Tujuan: menyamakan persepsi tim.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64008" cy="416052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Visual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Tetapkan:</a:t>
            </a:r>
            <a:br/>
            <a:r>
              <a:t>• palet warna</a:t>
            </a:r>
            <a:br/>
            <a:r>
              <a:t>• hierarchy font</a:t>
            </a:r>
            <a:br/>
            <a:r>
              <a:t>• ukuran signage</a:t>
            </a:r>
            <a:br/>
            <a:r>
              <a:t>• icon style</a:t>
            </a:r>
            <a:br/>
            <a:r>
              <a:t>• grid</a:t>
            </a:r>
            <a:br/>
            <a:r>
              <a:t>• image treatment</a:t>
            </a:r>
            <a:br/>
            <a:r>
              <a:t>• tone of voice</a:t>
            </a:r>
            <a:br/>
            <a:br/>
            <a:r>
              <a:t>Tujuan: konsistensi.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429000" cy="416052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1645920"/>
            <a:ext cx="64008" cy="416052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9222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67712"/>
            <a:ext cx="30632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Uji pada:</a:t>
            </a:r>
            <a:br/>
            <a:r>
              <a:t>• poster</a:t>
            </a:r>
            <a:br/>
            <a:r>
              <a:t>• entrance</a:t>
            </a:r>
            <a:br/>
            <a:r>
              <a:t>• panel karya</a:t>
            </a:r>
            <a:br/>
            <a:r>
              <a:t>• screen UI</a:t>
            </a:r>
            <a:br/>
            <a:r>
              <a:t>• wayfinding</a:t>
            </a:r>
            <a:br/>
            <a:r>
              <a:t>• media sosial</a:t>
            </a:r>
            <a:br/>
            <a:br/>
            <a:r>
              <a:t>Jika satu elemen berubah, cek dampaknya pada sistem.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INTEGRASI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Semua Keputusan Harus Saling Konsisten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43000" cy="36576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55648"/>
            <a:ext cx="1143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6303D"/>
                </a:solidFill>
              </a:defRPr>
            </a:pPr>
            <a:r>
              <a:t>Mengapa?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91640"/>
            <a:ext cx="1143000" cy="36576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755648"/>
            <a:ext cx="1143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1945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6303D"/>
                </a:solidFill>
              </a:defRPr>
            </a:pPr>
            <a:r>
              <a:t>Gagasan?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91640"/>
            <a:ext cx="1143000" cy="36576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1755648"/>
            <a:ext cx="1143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TUJUAN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21945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6303D"/>
                </a:solidFill>
              </a:defRPr>
            </a:pPr>
            <a:r>
              <a:t>Hasil?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19" y="1691640"/>
            <a:ext cx="1143000" cy="365760"/>
          </a:xfrm>
          <a:prstGeom prst="roundRect">
            <a:avLst/>
          </a:prstGeom>
          <a:solidFill>
            <a:srgbClr val="2F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89719" y="1755648"/>
            <a:ext cx="1143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AUDIENS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1945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6303D"/>
                </a:solidFill>
              </a:defRPr>
            </a:pPr>
            <a:r>
              <a:t>Untuk siapa?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39"/>
            <a:ext cx="1143000" cy="36576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3813048"/>
            <a:ext cx="1143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PESAN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51959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6303D"/>
                </a:solidFill>
              </a:defRPr>
            </a:pPr>
            <a:r>
              <a:t>Apa yang diingat?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749039"/>
            <a:ext cx="1143000" cy="36576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29000" y="3813048"/>
            <a:ext cx="1143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RUANG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4251959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6303D"/>
                </a:solidFill>
              </a:defRPr>
            </a:pPr>
            <a:r>
              <a:t>Bagaimana dialami?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3749039"/>
            <a:ext cx="1143000" cy="36576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09359" y="3813048"/>
            <a:ext cx="1143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4251959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6303D"/>
                </a:solidFill>
              </a:defRPr>
            </a:pPr>
            <a:r>
              <a:t>Apa sumber dayanya?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9719" y="3749039"/>
            <a:ext cx="1143000" cy="365760"/>
          </a:xfrm>
          <a:prstGeom prst="roundRect">
            <a:avLst/>
          </a:prstGeom>
          <a:solidFill>
            <a:srgbClr val="2F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9719" y="3813048"/>
            <a:ext cx="11430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VISUAL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4251959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>
                <a:solidFill>
                  <a:srgbClr val="26303D"/>
                </a:solidFill>
              </a:defRPr>
            </a:pPr>
            <a:r>
              <a:t>Bagaimana terlihat?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5321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1F3D"/>
                </a:solidFill>
              </a:defRPr>
            </a:pPr>
            <a:r>
              <a:t>Jika satu elemen berubah, lakukan impact check pada elemen lain.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7782"/>
                </a:solidFill>
              </a:defRPr>
            </a:pPr>
            <a:r>
              <a:t>PROJECT-BASED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217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81F3D"/>
                </a:solidFill>
              </a:defRPr>
            </a:pPr>
            <a:r>
              <a:t>Studio Exercise: Konsep Awal Pameran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29000" cy="443484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64008" cy="4434840"/>
          </a:xfrm>
          <a:prstGeom prst="roundRect">
            <a:avLst/>
          </a:prstGeom>
          <a:solidFill>
            <a:srgbClr val="F27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74650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306324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Pamerkan produk multimedia mahasiswa.</a:t>
            </a:r>
            <a:br/>
            <a:br/>
            <a:r>
              <a:t>Batasan:</a:t>
            </a:r>
            <a:br/>
            <a:r>
              <a:t>• karya beragam</a:t>
            </a:r>
            <a:br/>
            <a:r>
              <a:t>• waktu terbatas</a:t>
            </a:r>
            <a:br/>
            <a:r>
              <a:t>• anggaran terbatas</a:t>
            </a:r>
            <a:br/>
            <a:r>
              <a:t>• audiens mahasiswa + industri</a:t>
            </a:r>
            <a:br/>
            <a:r>
              <a:t>• sebagian karya membutuhkan perangkat.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29000" cy="443484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89120" y="1600200"/>
            <a:ext cx="64008" cy="4434840"/>
          </a:xfrm>
          <a:prstGeom prst="roundRect">
            <a:avLst/>
          </a:prstGeom>
          <a:solidFill>
            <a:srgbClr val="0077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0288" y="174650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Kerjakan 6 keputusan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21992"/>
            <a:ext cx="306324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1. Tema</a:t>
            </a:r>
            <a:br/>
            <a:r>
              <a:t>2. Tujuan</a:t>
            </a:r>
            <a:br/>
            <a:r>
              <a:t>3. Target audiens</a:t>
            </a:r>
            <a:br/>
            <a:r>
              <a:t>4. Pesan utama</a:t>
            </a:r>
            <a:br/>
            <a:r>
              <a:t>5. Konsep alur ruang</a:t>
            </a:r>
            <a:br/>
            <a:r>
              <a:t>6. 5 item RAB utama</a:t>
            </a:r>
            <a:br/>
            <a:br/>
            <a:r>
              <a:t>Tambahkan satu ide sponsorship.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429000" cy="4434840"/>
          </a:xfrm>
          <a:prstGeom prst="roundRect">
            <a:avLst/>
          </a:prstGeom>
          <a:solidFill>
            <a:srgbClr val="F5F8FB"/>
          </a:solidFill>
          <a:ln>
            <a:solidFill>
              <a:srgbClr val="DC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92440" y="1600200"/>
            <a:ext cx="64008" cy="4434840"/>
          </a:xfrm>
          <a:prstGeom prst="roundRect">
            <a:avLst/>
          </a:prstGeom>
          <a:solidFill>
            <a:srgbClr val="1553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3608" y="174650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1F3D"/>
                </a:solidFill>
              </a:defRPr>
            </a:pPr>
            <a:r>
              <a:t>Presentasi 5 menit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2221992"/>
            <a:ext cx="3063240" cy="3657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6303D"/>
                </a:solidFill>
              </a:defRPr>
            </a:pPr>
            <a:r>
              <a:t>Tampilkan:</a:t>
            </a:r>
            <a:br/>
            <a:r>
              <a:t>• concept board</a:t>
            </a:r>
            <a:br/>
            <a:r>
              <a:t>• sketsa alur pengunjung</a:t>
            </a:r>
            <a:br/>
            <a:r>
              <a:t>• tema &amp; pesan</a:t>
            </a:r>
            <a:br/>
            <a:r>
              <a:t>• prioritas anggaran</a:t>
            </a:r>
            <a:br/>
            <a:r>
              <a:t>• alasan keputusan</a:t>
            </a:r>
            <a:br/>
            <a:br/>
            <a:r>
              <a:t>Kriteria: logis, relevan, feasible, konsisten.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6428232"/>
            <a:ext cx="10972800" cy="10972"/>
          </a:xfrm>
          <a:prstGeom prst="roundRect">
            <a:avLst/>
          </a:prstGeom>
          <a:solidFill>
            <a:srgbClr val="DCE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" y="6473952"/>
            <a:ext cx="7315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606C7A"/>
                </a:solidFill>
              </a:defRPr>
            </a:pPr>
            <a:r>
              <a:t>TRM532 • TATA KELOLA PAMERAN • KONSEP PERENCANAAN PAMERAN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6480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081F3D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8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8686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</a:defRPr>
            </a:pPr>
            <a:r>
              <a:t>Perencanaan pameran adalah</a:t>
            </a:r>
            <a:br/>
            <a:r>
              <a:t>proses menyatukan keputusan.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9875520" cy="2081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ü"/>
              <a:defRPr sz="1600">
                <a:solidFill>
                  <a:srgbClr val="26303D"/>
                </a:solidFill>
              </a:defRPr>
            </a:pPr>
            <a:r>
              <a:rPr dirty="0">
                <a:solidFill>
                  <a:schemeClr val="bg1"/>
                </a:solidFill>
              </a:rPr>
              <a:t>Mulai </a:t>
            </a:r>
            <a:r>
              <a:rPr dirty="0" err="1">
                <a:solidFill>
                  <a:schemeClr val="bg1"/>
                </a:solidFill>
              </a:rPr>
              <a:t>dari</a:t>
            </a:r>
            <a:r>
              <a:rPr dirty="0">
                <a:solidFill>
                  <a:schemeClr val="bg1"/>
                </a:solidFill>
              </a:rPr>
              <a:t> ide dan </a:t>
            </a:r>
            <a:r>
              <a:rPr dirty="0" err="1">
                <a:solidFill>
                  <a:schemeClr val="bg1"/>
                </a:solidFill>
              </a:rPr>
              <a:t>riset</a:t>
            </a:r>
            <a:r>
              <a:rPr dirty="0">
                <a:solidFill>
                  <a:schemeClr val="bg1"/>
                </a:solidFill>
              </a:rPr>
              <a:t>, </a:t>
            </a:r>
            <a:r>
              <a:rPr dirty="0" err="1">
                <a:solidFill>
                  <a:schemeClr val="bg1"/>
                </a:solidFill>
              </a:rPr>
              <a:t>bukan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dekorasi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ü"/>
              <a:defRPr sz="1600">
                <a:solidFill>
                  <a:srgbClr val="26303D"/>
                </a:solidFill>
              </a:defRPr>
            </a:pPr>
            <a:r>
              <a:rPr dirty="0">
                <a:solidFill>
                  <a:schemeClr val="bg1"/>
                </a:solidFill>
              </a:rPr>
              <a:t>Tema dan </a:t>
            </a:r>
            <a:r>
              <a:rPr dirty="0" err="1">
                <a:solidFill>
                  <a:schemeClr val="bg1"/>
                </a:solidFill>
              </a:rPr>
              <a:t>tujuan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menjadi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kompas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keputusan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ü"/>
              <a:defRPr sz="1600">
                <a:solidFill>
                  <a:srgbClr val="26303D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Audiens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menentukan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pengalaman</a:t>
            </a:r>
            <a:r>
              <a:rPr dirty="0">
                <a:solidFill>
                  <a:schemeClr val="bg1"/>
                </a:solidFill>
              </a:rPr>
              <a:t> dan </a:t>
            </a:r>
            <a:r>
              <a:rPr dirty="0" err="1">
                <a:solidFill>
                  <a:schemeClr val="bg1"/>
                </a:solidFill>
              </a:rPr>
              <a:t>pesan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ü"/>
              <a:defRPr sz="1600">
                <a:solidFill>
                  <a:srgbClr val="26303D"/>
                </a:solidFill>
              </a:defRPr>
            </a:pPr>
            <a:r>
              <a:rPr dirty="0">
                <a:solidFill>
                  <a:schemeClr val="bg1"/>
                </a:solidFill>
              </a:rPr>
              <a:t>Ruang </a:t>
            </a:r>
            <a:r>
              <a:rPr dirty="0" err="1">
                <a:solidFill>
                  <a:schemeClr val="bg1"/>
                </a:solidFill>
              </a:rPr>
              <a:t>mengatur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perjalanan</a:t>
            </a:r>
            <a:r>
              <a:rPr dirty="0">
                <a:solidFill>
                  <a:schemeClr val="bg1"/>
                </a:solidFill>
              </a:rPr>
              <a:t>; RAB </a:t>
            </a:r>
            <a:r>
              <a:rPr dirty="0" err="1">
                <a:solidFill>
                  <a:schemeClr val="bg1"/>
                </a:solidFill>
              </a:rPr>
              <a:t>menguji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kelayakan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ü"/>
              <a:defRPr sz="1600">
                <a:solidFill>
                  <a:srgbClr val="26303D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Perizinan</a:t>
            </a:r>
            <a:r>
              <a:rPr dirty="0">
                <a:solidFill>
                  <a:schemeClr val="bg1"/>
                </a:solidFill>
              </a:rPr>
              <a:t>, sponsorship, visual, dan </a:t>
            </a:r>
            <a:r>
              <a:rPr dirty="0" err="1">
                <a:solidFill>
                  <a:schemeClr val="bg1"/>
                </a:solidFill>
              </a:rPr>
              <a:t>estetika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masuk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sejak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tahap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desain</a:t>
            </a:r>
            <a:r>
              <a:rPr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lnSpc>
                <a:spcPct val="105000"/>
              </a:lnSpc>
              <a:spcAft>
                <a:spcPts val="700"/>
              </a:spcAft>
              <a:buFont typeface="Wingdings" panose="05000000000000000000" pitchFamily="2" charset="2"/>
              <a:buChar char="ü"/>
              <a:defRPr sz="1600">
                <a:solidFill>
                  <a:srgbClr val="26303D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Untuk</a:t>
            </a:r>
            <a:r>
              <a:rPr dirty="0">
                <a:solidFill>
                  <a:schemeClr val="bg1"/>
                </a:solidFill>
              </a:rPr>
              <a:t> multimedia, </a:t>
            </a:r>
            <a:r>
              <a:rPr dirty="0" err="1">
                <a:solidFill>
                  <a:schemeClr val="bg1"/>
                </a:solidFill>
              </a:rPr>
              <a:t>kesiapan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teknologi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sama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pentingnya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dengan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estetika</a:t>
            </a:r>
            <a:r>
              <a:rPr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1830</Words>
  <Application>Microsoft Office PowerPoint</Application>
  <PresentationFormat>Widescreen</PresentationFormat>
  <Paragraphs>200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2026-09-06T05:29:04Z</dcterms:modified>
  <cp:category/>
</cp:coreProperties>
</file>