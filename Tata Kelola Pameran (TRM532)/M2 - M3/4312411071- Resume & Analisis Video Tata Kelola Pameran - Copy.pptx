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4"/>
    <p:sldId id="257" r:id="rId6"/>
    <p:sldId id="258" r:id="rId7"/>
    <p:sldId id="259" r:id="rId8"/>
    <p:sldId id="269" r:id="rId9"/>
    <p:sldId id="260" r:id="rId10"/>
    <p:sldId id="261" r:id="rId11"/>
    <p:sldId id="262" r:id="rId12"/>
    <p:sldId id="263" r:id="rId13"/>
    <p:sldId id="264" r:id="rId14"/>
    <p:sldId id="265" r:id="rId15"/>
    <p:sldId id="266" r:id="rId16"/>
    <p:sldId id="267" r:id="rId17"/>
    <p:sldId id="268" r:id="rId18"/>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295DD9"/>
                </a:solidFill>
                <a:latin typeface="Arial" panose="020B0604020202020204" pitchFamily="34" charset="0"/>
                <a:ea typeface="Arial" panose="020B0604020202020204" pitchFamily="34" charset="-122"/>
                <a:cs typeface="Arial" panose="020B0604020202020204" pitchFamily="34" charset="-120"/>
                <a:sym typeface="+mn-ea"/>
              </a:rPr>
              <a:t>Yehezkiel</a:t>
            </a:r>
            <a:r>
              <a:rPr lang="en-US" dirty="0">
                <a:solidFill>
                  <a:srgbClr val="3E5BA7"/>
                </a:solidFill>
                <a:latin typeface="Arial" panose="020B0604020202020204" pitchFamily="34" charset="0"/>
                <a:ea typeface="Arial" panose="020B0604020202020204" pitchFamily="34" charset="-122"/>
                <a:cs typeface="Arial" panose="020B0604020202020204" pitchFamily="34" charset="-120"/>
                <a:sym typeface="+mn-ea"/>
              </a:rPr>
              <a:t> </a:t>
            </a:r>
            <a:r>
              <a:rPr lang="en-US" dirty="0">
                <a:solidFill>
                  <a:srgbClr val="3161D9"/>
                </a:solidFill>
                <a:latin typeface="Arial" panose="020B0604020202020204" pitchFamily="34" charset="0"/>
                <a:ea typeface="Arial" panose="020B0604020202020204" pitchFamily="34" charset="-122"/>
                <a:cs typeface="Arial" panose="020B0604020202020204" pitchFamily="34" charset="-120"/>
                <a:sym typeface="+mn-ea"/>
              </a:rPr>
              <a:t>36:26-27 </a:t>
            </a:r>
            <a:r>
              <a:rPr lang="en-US" altLang="en-US" dirty="0"/>
              <a:t>Kamu akan Kuberikan hati yang baru, dan roh yang baru di dalam batinmu dan Aku akan menjauhkan dari tubuhmu hati yang keras dan Kuberikan kepadamu hati yang taat. Roh-Ku akan Kuberikan diam di dalam batinmu dan Aku akan membuat kamu hidup menurut segala ketetapan-Ku dan tetap berpegang pada peraturan-peraturan-Ku dan melakukannya.</a:t>
            </a:r>
            <a:endParaRPr lang="en-US" altLang="en-US" dirty="0"/>
          </a:p>
          <a:p>
            <a:endParaRPr lang="en-US" altLang="en-US" dirty="0"/>
          </a:p>
          <a:p>
            <a:r>
              <a:rPr lang="en-US" dirty="0">
                <a:solidFill>
                  <a:srgbClr val="2D59D5"/>
                </a:solidFill>
                <a:latin typeface="Arial" panose="020B0604020202020204" pitchFamily="34" charset="0"/>
                <a:ea typeface="Arial" panose="020B0604020202020204" pitchFamily="34" charset="-122"/>
                <a:cs typeface="Arial" panose="020B0604020202020204" pitchFamily="34" charset="-120"/>
                <a:sym typeface="+mn-ea"/>
              </a:rPr>
              <a:t>Yohanes</a:t>
            </a:r>
            <a:r>
              <a:rPr lang="en-US" dirty="0">
                <a:solidFill>
                  <a:srgbClr val="4161B8"/>
                </a:solidFill>
                <a:latin typeface="Arial" panose="020B0604020202020204" pitchFamily="34" charset="0"/>
                <a:ea typeface="Arial" panose="020B0604020202020204" pitchFamily="34" charset="-122"/>
                <a:cs typeface="Arial" panose="020B0604020202020204" pitchFamily="34" charset="-120"/>
                <a:sym typeface="+mn-ea"/>
              </a:rPr>
              <a:t> </a:t>
            </a:r>
            <a:r>
              <a:rPr lang="en-US" dirty="0">
                <a:solidFill>
                  <a:srgbClr val="2D61D5"/>
                </a:solidFill>
                <a:latin typeface="Arial" panose="020B0604020202020204" pitchFamily="34" charset="0"/>
                <a:ea typeface="Arial" panose="020B0604020202020204" pitchFamily="34" charset="-122"/>
                <a:cs typeface="Arial" panose="020B0604020202020204" pitchFamily="34" charset="-120"/>
                <a:sym typeface="+mn-ea"/>
              </a:rPr>
              <a:t>1:12 </a:t>
            </a:r>
            <a:r>
              <a:rPr lang="en-US" altLang="en-US" dirty="0"/>
              <a:t>Tetapi semua orang yang menerima-Nya diberi-Nya kuasa supaya menjadi anak-anak Allah, yaitu mereka yang percaya dalam nama-Nya</a:t>
            </a:r>
            <a:endParaRPr lang="en-US" altLang="en-US" dirty="0"/>
          </a:p>
          <a:p>
            <a:endParaRPr lang="en-US" altLang="en-US" dirty="0"/>
          </a:p>
          <a:p>
            <a:r>
              <a:rPr lang="en-US" altLang="en-US" dirty="0"/>
              <a:t>Kolose 1:13 Ia telah melepaskan kita dari kuasa kegelapan dan memindahkan kita ke dalam Kerajaan Anak-Nya yang kekasih; di dalam Dia kita memiliki penebusan kita, yaitu pengampunan dosa.</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Roma 6:22 Tetapi sekarang, setelah kamu dimerdekakan dari dosa dan setelah kamu menjadi hamba Allah, kamu beroleh buah yang membawa kamu kepada pengudusan dan sebagai kesudahannya ialah hidup yang kekal.</a:t>
            </a:r>
            <a:endParaRPr lang="en-US" altLang="en-US" dirty="0"/>
          </a:p>
          <a:p>
            <a:endParaRPr lang="en-US" altLang="en-US" dirty="0"/>
          </a:p>
          <a:p>
            <a:r>
              <a:rPr lang="en-US" altLang="en-US" dirty="0"/>
              <a:t>Roma 6:11 Demikianlah hendaknya kamu memandangnya: bahwa kamu telah mati bagi dosa, tetapi kamu hidup bagi Allah dalam Kristus Yesus.</a:t>
            </a:r>
            <a:endParaRPr lang="en-US" altLang="en-US" dirty="0"/>
          </a:p>
          <a:p>
            <a:endParaRPr lang="en-US" altLang="en-US" dirty="0"/>
          </a:p>
          <a:p>
            <a:r>
              <a:rPr lang="en-US" altLang="en-US" dirty="0"/>
              <a:t>Roma 6:17-18 Tetapi syukurlah kepada Allah! Dahulu memang kamu hamba dosa, tetapi sekarang kamu dengan segenap hati telah mentaati pengajaran yang telah diteruskan kepadamu. 18Kamu telah dimerdekakan dari dosa dan menjadi hamba kebenaran.</a:t>
            </a:r>
            <a:endParaRPr lang="en-US" alt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59.jpg"/></Relationships>
</file>

<file path=ppt/slides/_rels/slide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1.xml"/><Relationship Id="rId5" Type="http://schemas.openxmlformats.org/officeDocument/2006/relationships/notesSlide" Target="../notesSlides/notesSlide3.xml"/><Relationship Id="rId6" Type="http://schemas.openxmlformats.org/officeDocument/2006/relationships/image" Target="../media/image60.jpg"/></Relationships>
</file>

<file path=ppt/slides/_rels/slide4.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slideLayout" Target="../slideLayouts/slideLayout1.xml"/><Relationship Id="rId7" Type="http://schemas.openxmlformats.org/officeDocument/2006/relationships/notesSlide" Target="../notesSlides/notesSlide4.xml"/><Relationship Id="rId8" Type="http://schemas.openxmlformats.org/officeDocument/2006/relationships/image" Target="../media/image61.jpg"/></Relationships>
</file>

<file path=ppt/slides/_rels/slide5.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jpeg"/><Relationship Id="rId7" Type="http://schemas.openxmlformats.org/officeDocument/2006/relationships/slideLayout" Target="../slideLayouts/slideLayout2.xml"/><Relationship Id="rId8" Type="http://schemas.openxmlformats.org/officeDocument/2006/relationships/notesSlide" Target="../notesSlides/notesSlide5.xml"/><Relationship Id="rId9" Type="http://schemas.openxmlformats.org/officeDocument/2006/relationships/image" Target="../media/image62.jpg"/></Relationships>
</file>

<file path=ppt/slides/_rels/slide6.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1.xml"/><Relationship Id="rId4" Type="http://schemas.openxmlformats.org/officeDocument/2006/relationships/notesSlide" Target="../notesSlides/notesSlide6.xml"/><Relationship Id="rId5" Type="http://schemas.openxmlformats.org/officeDocument/2006/relationships/image" Target="../media/image63.jpg"/></Relationships>
</file>

<file path=ppt/slides/_rels/slide7.xml.rels><?xml version='1.0' encoding='UTF-8' standalone='yes'?>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png"/><Relationship Id="rId9" Type="http://schemas.openxmlformats.org/officeDocument/2006/relationships/slideLayout" Target="../slideLayouts/slideLayout1.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slideLayout" Target="../slideLayouts/slideLayout1.xml"/><Relationship Id="rId7" Type="http://schemas.openxmlformats.org/officeDocument/2006/relationships/notesSlide" Target="../notesSlides/notesSlide8.xml"/><Relationship Id="rId8" Type="http://schemas.openxmlformats.org/officeDocument/2006/relationships/image" Target="../media/image64.jpg"/></Relationships>
</file>

<file path=ppt/slides/_rels/slide9.xml.rels><?xml version='1.0' encoding='UTF-8' standalone='yes'?>
<Relationships xmlns="http://schemas.openxmlformats.org/package/2006/relationships"><Relationship Id="rId1" Type="http://schemas.openxmlformats.org/officeDocument/2006/relationships/image" Target="../media/image28.png"/><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 Id="rId12" Type="http://schemas.openxmlformats.org/officeDocument/2006/relationships/image" Target="../media/image42.png"/><Relationship Id="rId13" Type="http://schemas.openxmlformats.org/officeDocument/2006/relationships/image" Target="../media/image43.png"/><Relationship Id="rId14" Type="http://schemas.openxmlformats.org/officeDocument/2006/relationships/image" Target="../media/image44.png"/><Relationship Id="rId15" Type="http://schemas.openxmlformats.org/officeDocument/2006/relationships/image" Target="../media/image45.png"/><Relationship Id="rId16" Type="http://schemas.openxmlformats.org/officeDocument/2006/relationships/image" Target="../media/image46.png"/><Relationship Id="rId17" Type="http://schemas.openxmlformats.org/officeDocument/2006/relationships/image" Target="../media/image47.png"/><Relationship Id="rId18" Type="http://schemas.openxmlformats.org/officeDocument/2006/relationships/slideLayout" Target="../slideLayouts/slideLayout1.xml"/><Relationship Id="rId1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48.png"/><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52.pn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 Id="rId9" Type="http://schemas.openxmlformats.org/officeDocument/2006/relationships/image" Target="../media/image56.png"/><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1.xml"/><Relationship Id="rId3" Type="http://schemas.openxmlformats.org/officeDocument/2006/relationships/notesSlide" Target="../notesSlides/notesSlide13.xml"/><Relationship Id="rId4" Type="http://schemas.openxmlformats.org/officeDocument/2006/relationships/image" Target="../media/image65.jpg"/></Relationships>
</file>

<file path=ppt/slides/_rels/slide14.xml.rels><?xml version='1.0' encoding='UTF-8' standalone='yes'?>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1.xml"/><Relationship Id="rId3" Type="http://schemas.openxmlformats.org/officeDocument/2006/relationships/notesSlide" Target="../notesSlides/notesSlide14.xml"/><Relationship Id="rId4" Type="http://schemas.openxmlformats.org/officeDocument/2006/relationships/image" Target="../media/image66.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96153" y="2133112"/>
            <a:ext cx="4722602" cy="443027"/>
          </a:xfrm>
          <a:prstGeom prst="rect">
            <a:avLst/>
          </a:prstGeom>
          <a:noFill/>
        </p:spPr>
        <p:txBody>
          <a:bodyPr wrap="square" lIns="0" tIns="0" rIns="0" bIns="0" rtlCol="0" anchor="ctr"/>
          <a:lstStyle/>
          <a:p>
            <a:pPr algn="l"/>
            <a:r>
              <a:rPr sz="2790" b="1">
                <a:solidFill>
                  <a:srgbClr val="000000"/>
                </a:solidFill>
                <a:latin typeface="Heebo"/>
              </a:rPr>
              <a:t>Tata Kelola Pameran Museum</a:t>
            </a:r>
          </a:p>
        </p:txBody>
      </p:sp>
      <p:sp>
        <p:nvSpPr>
          <p:cNvPr id="4" name="Text 1"/>
          <p:cNvSpPr/>
          <p:nvPr/>
        </p:nvSpPr>
        <p:spPr>
          <a:xfrm>
            <a:off x="496153" y="2788829"/>
            <a:ext cx="4722602" cy="221468"/>
          </a:xfrm>
          <a:prstGeom prst="rect">
            <a:avLst/>
          </a:prstGeom>
          <a:noFill/>
        </p:spPr>
        <p:txBody>
          <a:bodyPr wrap="square" lIns="0" tIns="0" rIns="0" bIns="0" rtlCol="0" anchor="ctr"/>
          <a:lstStyle/>
          <a:p>
            <a:pPr algn="l"/>
            <a:r>
              <a:rPr sz="1395" b="1">
                <a:solidFill>
                  <a:srgbClr val="000000"/>
                </a:solidFill>
                <a:latin typeface="Heebo"/>
              </a:rPr>
              <a:t>Resume &amp; Analisis Video  •  TRM532 Tata Kelola Pameran</a:t>
            </a:r>
          </a:p>
        </p:txBody>
      </p:sp>
      <p:pic>
        <p:nvPicPr>
          <p:cNvPr id="5" name="Picture 4" descr="s01_c.jpg"/>
          <p:cNvPicPr>
            <a:picLocks noChangeAspect="1"/>
          </p:cNvPicPr>
          <p:nvPr/>
        </p:nvPicPr>
        <p:blipFill>
          <a:blip r:embed="rId4"/>
          <a:stretch>
            <a:fillRect/>
          </a:stretch>
        </p:blipFill>
        <p:spPr>
          <a:xfrm>
            <a:off x="5715000" y="0"/>
            <a:ext cx="3429000" cy="5143500"/>
          </a:xfrm>
          <a:prstGeom prst="rect">
            <a:avLst/>
          </a:prstGeom>
        </p:spPr>
      </p:pic>
      <p:sp>
        <p:nvSpPr>
          <p:cNvPr id="6" name="TextBox 5"/>
          <p:cNvSpPr txBox="1"/>
          <p:nvPr/>
        </p:nvSpPr>
        <p:spPr>
          <a:xfrm>
            <a:off x="493776" y="3246120"/>
            <a:ext cx="4846320" cy="1554480"/>
          </a:xfrm>
          <a:prstGeom prst="rect">
            <a:avLst/>
          </a:prstGeom>
          <a:noFill/>
        </p:spPr>
        <p:txBody>
          <a:bodyPr wrap="square">
            <a:spAutoFit/>
          </a:bodyPr>
          <a:lstStyle/>
          <a:p>
            <a:pPr>
              <a:spcAft>
                <a:spcPts val="200"/>
              </a:spcAft>
            </a:pPr>
            <a:r>
              <a:rPr sz="1100" b="1">
                <a:solidFill>
                  <a:srgbClr val="1F2D3D"/>
                </a:solidFill>
                <a:latin typeface="Segoe UI"/>
              </a:rPr>
              <a:t>Ketua: Ashsyura Az Zahra (4312411071)</a:t>
            </a:r>
          </a:p>
          <a:p>
            <a:pPr>
              <a:spcAft>
                <a:spcPts val="200"/>
              </a:spcAft>
            </a:pPr>
            <a:r>
              <a:rPr sz="950" b="0">
                <a:solidFill>
                  <a:srgbClr val="1F2D3D"/>
                </a:solidFill>
                <a:latin typeface="Segoe UI"/>
              </a:rPr>
              <a:t>Meliska Grenova Sinaga (4312411052)  •  Olyn Novita Dewi (4312411058)</a:t>
            </a:r>
          </a:p>
          <a:p>
            <a:pPr>
              <a:spcAft>
                <a:spcPts val="200"/>
              </a:spcAft>
            </a:pPr>
            <a:r>
              <a:rPr sz="950" b="0">
                <a:solidFill>
                  <a:srgbClr val="1F2D3D"/>
                </a:solidFill>
                <a:latin typeface="Segoe UI"/>
              </a:rPr>
              <a:t>Erisa Junita (4312411064)  •  Metia Azzahra (4312432003)</a:t>
            </a:r>
          </a:p>
          <a:p>
            <a:pPr>
              <a:spcAft>
                <a:spcPts val="200"/>
              </a:spcAft>
            </a:pPr>
            <a:r>
              <a:rPr sz="950" b="0">
                <a:solidFill>
                  <a:srgbClr val="1F2D3D"/>
                </a:solidFill>
                <a:latin typeface="Segoe UI"/>
              </a:rPr>
              <a:t>Ivan Suhendra S (4312431005)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2"/>
          <p:cNvPicPr>
            <a:picLocks noChangeAspect="1"/>
          </p:cNvPicPr>
          <p:nvPr/>
        </p:nvPicPr>
        <p:blipFill>
          <a:blip r:embed="rId2"/>
          <a:stretch>
            <a:fillRect/>
          </a:stretch>
        </p:blipFill>
        <p:spPr>
          <a:xfrm>
            <a:off x="4138910" y="2071688"/>
            <a:ext cx="852785" cy="866180"/>
          </a:xfrm>
          <a:prstGeom prst="rect">
            <a:avLst/>
          </a:prstGeom>
        </p:spPr>
      </p:pic>
      <p:sp>
        <p:nvSpPr>
          <p:cNvPr id="4" name="Text 0"/>
          <p:cNvSpPr/>
          <p:nvPr/>
        </p:nvSpPr>
        <p:spPr>
          <a:xfrm>
            <a:off x="388441" y="442342"/>
            <a:ext cx="6554391" cy="483308"/>
          </a:xfrm>
          <a:prstGeom prst="rect">
            <a:avLst/>
          </a:prstGeom>
          <a:noFill/>
        </p:spPr>
        <p:txBody>
          <a:bodyPr wrap="square" lIns="0" tIns="0" rIns="0" bIns="0" rtlCol="0" anchor="t"/>
          <a:lstStyle/>
          <a:p>
            <a:pPr algn="l"/>
            <a:r>
              <a:rPr sz="3045" b="1">
                <a:solidFill>
                  <a:srgbClr val="000000"/>
                </a:solidFill>
                <a:latin typeface="Segoe UI"/>
              </a:rPr>
              <a:t>Kerangka Perencanaan Pameran</a:t>
            </a:r>
          </a:p>
        </p:txBody>
      </p:sp>
      <p:sp>
        <p:nvSpPr>
          <p:cNvPr id="5" name="Text 1"/>
          <p:cNvSpPr/>
          <p:nvPr/>
        </p:nvSpPr>
        <p:spPr>
          <a:xfrm>
            <a:off x="526852" y="1072417"/>
            <a:ext cx="5397996" cy="624223"/>
          </a:xfrm>
          <a:prstGeom prst="rect">
            <a:avLst/>
          </a:prstGeom>
          <a:noFill/>
        </p:spPr>
        <p:txBody>
          <a:bodyPr wrap="square" lIns="0" tIns="0" rIns="0" bIns="0" rtlCol="0" anchor="t"/>
          <a:lstStyle/>
          <a:p>
            <a:pPr algn="l"/>
            <a:r>
              <a:rPr sz="1235">
                <a:solidFill>
                  <a:srgbClr val="282727"/>
                </a:solidFill>
                <a:latin typeface="Arial"/>
              </a:rPr>
              <a:t>Isi video kami bedah memakai konsep perencanaan pameran. Tiga aspek fondasi yang menopang sebuah pameran:</a:t>
            </a:r>
          </a:p>
        </p:txBody>
      </p:sp>
      <p:sp>
        <p:nvSpPr>
          <p:cNvPr id="6" name="Text 2"/>
          <p:cNvSpPr/>
          <p:nvPr/>
        </p:nvSpPr>
        <p:spPr>
          <a:xfrm>
            <a:off x="1544836" y="2195132"/>
            <a:ext cx="352723" cy="323040"/>
          </a:xfrm>
          <a:prstGeom prst="rect">
            <a:avLst/>
          </a:prstGeom>
          <a:noFill/>
        </p:spPr>
        <p:txBody>
          <a:bodyPr wrap="square" lIns="0" tIns="0" rIns="0" bIns="0" rtlCol="0" anchor="t"/>
          <a:lstStyle/>
          <a:p>
            <a:pPr algn="l"/>
          </a:p>
        </p:txBody>
      </p:sp>
      <p:sp>
        <p:nvSpPr>
          <p:cNvPr id="7" name="Text 3"/>
          <p:cNvSpPr/>
          <p:nvPr/>
        </p:nvSpPr>
        <p:spPr>
          <a:xfrm>
            <a:off x="7416105" y="2483536"/>
            <a:ext cx="44648" cy="61425"/>
          </a:xfrm>
          <a:prstGeom prst="rect">
            <a:avLst/>
          </a:prstGeom>
          <a:noFill/>
        </p:spPr>
        <p:txBody>
          <a:bodyPr wrap="square" lIns="0" tIns="0" rIns="0" bIns="0" rtlCol="0" anchor="t"/>
          <a:lstStyle/>
          <a:p>
            <a:pPr algn="l"/>
          </a:p>
        </p:txBody>
      </p:sp>
      <p:sp>
        <p:nvSpPr>
          <p:cNvPr id="8" name="Text 4"/>
          <p:cNvSpPr/>
          <p:nvPr/>
        </p:nvSpPr>
        <p:spPr>
          <a:xfrm>
            <a:off x="687586" y="3248158"/>
            <a:ext cx="80367" cy="174652"/>
          </a:xfrm>
          <a:prstGeom prst="rect">
            <a:avLst/>
          </a:prstGeom>
          <a:noFill/>
        </p:spPr>
        <p:txBody>
          <a:bodyPr wrap="none" lIns="0" tIns="0" rIns="0" bIns="0" rtlCol="0" anchor="t"/>
          <a:lstStyle/>
          <a:p>
            <a:pPr marL="0" indent="0" algn="l">
              <a:buNone/>
            </a:pPr>
            <a:r>
              <a:rPr lang="en-US" sz="1100" b="1" dirty="0">
                <a:solidFill>
                  <a:srgbClr val="FFFFFF"/>
                </a:solidFill>
                <a:latin typeface="Segoe UI" panose="020B0502040204020203" pitchFamily="34" charset="0"/>
                <a:ea typeface="Segoe UI" panose="020B0502040204020203" pitchFamily="34" charset="-122"/>
                <a:cs typeface="Segoe UI" panose="020B0502040204020203" pitchFamily="34" charset="-120"/>
              </a:rPr>
              <a:t>1</a:t>
            </a:r>
            <a:endParaRPr lang="en-US" sz="1100" dirty="0"/>
          </a:p>
        </p:txBody>
      </p:sp>
      <p:sp>
        <p:nvSpPr>
          <p:cNvPr id="9" name="Text 5"/>
          <p:cNvSpPr/>
          <p:nvPr/>
        </p:nvSpPr>
        <p:spPr>
          <a:xfrm>
            <a:off x="986730" y="3237506"/>
            <a:ext cx="1272480" cy="201569"/>
          </a:xfrm>
          <a:prstGeom prst="rect">
            <a:avLst/>
          </a:prstGeom>
          <a:noFill/>
        </p:spPr>
        <p:txBody>
          <a:bodyPr wrap="square" lIns="0" tIns="0" rIns="0" bIns="0" rtlCol="0" anchor="t"/>
          <a:lstStyle/>
          <a:p>
            <a:pPr algn="l"/>
            <a:r>
              <a:rPr sz="1270" b="1">
                <a:solidFill>
                  <a:srgbClr val="021731"/>
                </a:solidFill>
                <a:latin typeface="Arial"/>
              </a:rPr>
              <a:t>Ruang &amp; Tata Letak</a:t>
            </a:r>
          </a:p>
        </p:txBody>
      </p:sp>
      <p:sp>
        <p:nvSpPr>
          <p:cNvPr id="10" name="Text 6"/>
          <p:cNvSpPr/>
          <p:nvPr/>
        </p:nvSpPr>
        <p:spPr>
          <a:xfrm>
            <a:off x="3500438" y="3244538"/>
            <a:ext cx="107156" cy="231215"/>
          </a:xfrm>
          <a:prstGeom prst="rect">
            <a:avLst/>
          </a:prstGeom>
          <a:noFill/>
        </p:spPr>
        <p:txBody>
          <a:bodyPr wrap="none" lIns="0" tIns="0" rIns="0" bIns="0" rtlCol="0" anchor="t"/>
          <a:lstStyle/>
          <a:p>
            <a:pPr marL="0" indent="0" algn="l">
              <a:buNone/>
            </a:pPr>
            <a:r>
              <a:rPr lang="en-US" sz="1455" b="1" dirty="0">
                <a:solidFill>
                  <a:srgbClr val="FEFFFE"/>
                </a:solidFill>
                <a:latin typeface="Arial" panose="020B0604020202020204" pitchFamily="34" charset="0"/>
                <a:ea typeface="Arial" panose="020B0604020202020204" pitchFamily="34" charset="-122"/>
                <a:cs typeface="Arial" panose="020B0604020202020204" pitchFamily="34" charset="-120"/>
              </a:rPr>
              <a:t>2</a:t>
            </a:r>
            <a:endParaRPr lang="en-US" sz="1455" dirty="0"/>
          </a:p>
        </p:txBody>
      </p:sp>
      <p:sp>
        <p:nvSpPr>
          <p:cNvPr id="11" name="Text 7"/>
          <p:cNvSpPr/>
          <p:nvPr/>
        </p:nvSpPr>
        <p:spPr>
          <a:xfrm>
            <a:off x="3817441" y="3237150"/>
            <a:ext cx="1866305" cy="207132"/>
          </a:xfrm>
          <a:prstGeom prst="rect">
            <a:avLst/>
          </a:prstGeom>
          <a:noFill/>
        </p:spPr>
        <p:txBody>
          <a:bodyPr wrap="square" lIns="0" tIns="0" rIns="0" bIns="0" rtlCol="0" anchor="t"/>
          <a:lstStyle/>
          <a:p>
            <a:pPr algn="l"/>
            <a:r>
              <a:rPr sz="1305" b="1">
                <a:solidFill>
                  <a:srgbClr val="01142D"/>
                </a:solidFill>
                <a:latin typeface="Segoe UI"/>
              </a:rPr>
              <a:t>Anggaran (RAB)</a:t>
            </a:r>
          </a:p>
        </p:txBody>
      </p:sp>
      <p:sp>
        <p:nvSpPr>
          <p:cNvPr id="12" name="Text 8"/>
          <p:cNvSpPr/>
          <p:nvPr/>
        </p:nvSpPr>
        <p:spPr>
          <a:xfrm>
            <a:off x="6304359" y="3235314"/>
            <a:ext cx="111621" cy="235819"/>
          </a:xfrm>
          <a:prstGeom prst="rect">
            <a:avLst/>
          </a:prstGeom>
          <a:noFill/>
        </p:spPr>
        <p:txBody>
          <a:bodyPr wrap="none" lIns="0" tIns="0" rIns="0" bIns="0" rtlCol="0" anchor="t"/>
          <a:lstStyle/>
          <a:p>
            <a:pPr marL="0" indent="0" algn="l">
              <a:buNone/>
            </a:pPr>
            <a:r>
              <a:rPr lang="en-US" sz="1485" b="1" dirty="0">
                <a:solidFill>
                  <a:srgbClr val="FFFFFF"/>
                </a:solidFill>
                <a:latin typeface="Arial" panose="020B0604020202020204" pitchFamily="34" charset="0"/>
                <a:ea typeface="Arial" panose="020B0604020202020204" pitchFamily="34" charset="-122"/>
                <a:cs typeface="Arial" panose="020B0604020202020204" pitchFamily="34" charset="-120"/>
              </a:rPr>
              <a:t>3</a:t>
            </a:r>
            <a:endParaRPr lang="en-US" sz="1485" dirty="0"/>
          </a:p>
        </p:txBody>
      </p:sp>
      <p:sp>
        <p:nvSpPr>
          <p:cNvPr id="13" name="Text 9"/>
          <p:cNvSpPr/>
          <p:nvPr/>
        </p:nvSpPr>
        <p:spPr>
          <a:xfrm>
            <a:off x="6621363" y="3237518"/>
            <a:ext cx="1067098" cy="201378"/>
          </a:xfrm>
          <a:prstGeom prst="rect">
            <a:avLst/>
          </a:prstGeom>
          <a:noFill/>
        </p:spPr>
        <p:txBody>
          <a:bodyPr wrap="square" lIns="0" tIns="0" rIns="0" bIns="0" rtlCol="0" anchor="t"/>
          <a:lstStyle/>
          <a:p>
            <a:pPr algn="l"/>
            <a:r>
              <a:rPr sz="1270" b="1">
                <a:solidFill>
                  <a:srgbClr val="01152C"/>
                </a:solidFill>
                <a:latin typeface="Segoe UI"/>
              </a:rPr>
              <a:t>Venue &amp; Fasilitas</a:t>
            </a:r>
          </a:p>
        </p:txBody>
      </p:sp>
      <p:sp>
        <p:nvSpPr>
          <p:cNvPr id="14" name="Text 10"/>
          <p:cNvSpPr/>
          <p:nvPr/>
        </p:nvSpPr>
        <p:spPr>
          <a:xfrm>
            <a:off x="562570" y="3627974"/>
            <a:ext cx="2236887" cy="600234"/>
          </a:xfrm>
          <a:prstGeom prst="rect">
            <a:avLst/>
          </a:prstGeom>
          <a:noFill/>
        </p:spPr>
        <p:txBody>
          <a:bodyPr wrap="square" lIns="0" tIns="0" rIns="0" bIns="0" rtlCol="0" anchor="t"/>
          <a:lstStyle/>
          <a:p>
            <a:pPr algn="l"/>
            <a:r>
              <a:rPr sz="1070">
                <a:solidFill>
                  <a:srgbClr val="040303"/>
                </a:solidFill>
                <a:latin typeface="Arial"/>
              </a:rPr>
              <a:t>Tata ruang mengatur perjalanan dan pengalaman pengunjung.</a:t>
            </a:r>
          </a:p>
        </p:txBody>
      </p:sp>
      <p:sp>
        <p:nvSpPr>
          <p:cNvPr id="15" name="Text 11"/>
          <p:cNvSpPr/>
          <p:nvPr/>
        </p:nvSpPr>
        <p:spPr>
          <a:xfrm>
            <a:off x="3388816" y="3632211"/>
            <a:ext cx="2085082" cy="792449"/>
          </a:xfrm>
          <a:prstGeom prst="rect">
            <a:avLst/>
          </a:prstGeom>
          <a:noFill/>
        </p:spPr>
        <p:txBody>
          <a:bodyPr wrap="square" lIns="0" tIns="0" rIns="0" bIns="0" rtlCol="0" anchor="t"/>
          <a:lstStyle/>
          <a:p>
            <a:pPr algn="l"/>
            <a:r>
              <a:rPr sz="1095">
                <a:solidFill>
                  <a:srgbClr val="050505"/>
                </a:solidFill>
                <a:latin typeface="Arial"/>
              </a:rPr>
              <a:t>Setiap keputusan desain diterjemahkan menjadi kebutuhan biaya &amp; peralatan.</a:t>
            </a:r>
          </a:p>
        </p:txBody>
      </p:sp>
      <p:sp>
        <p:nvSpPr>
          <p:cNvPr id="16" name="Text 12"/>
          <p:cNvSpPr/>
          <p:nvPr/>
        </p:nvSpPr>
        <p:spPr>
          <a:xfrm>
            <a:off x="6197203" y="3628057"/>
            <a:ext cx="2174379" cy="604614"/>
          </a:xfrm>
          <a:prstGeom prst="rect">
            <a:avLst/>
          </a:prstGeom>
          <a:noFill/>
        </p:spPr>
        <p:txBody>
          <a:bodyPr wrap="square" lIns="0" tIns="0" rIns="0" bIns="0" rtlCol="0" anchor="t"/>
          <a:lstStyle/>
          <a:p>
            <a:pPr algn="l"/>
            <a:r>
              <a:rPr sz="1060">
                <a:solidFill>
                  <a:srgbClr val="050405"/>
                </a:solidFill>
                <a:latin typeface="Arial"/>
              </a:rPr>
              <a:t>Lokasi dan fasilitas menentukan kelayakan serta kenyamanan pameran.</a:t>
            </a:r>
          </a:p>
        </p:txBody>
      </p:sp>
      <p:sp>
        <p:nvSpPr>
          <p:cNvPr id="17" name="Oval 16"/>
          <p:cNvSpPr/>
          <p:nvPr/>
        </p:nvSpPr>
        <p:spPr>
          <a:xfrm>
            <a:off x="1316736" y="2057400"/>
            <a:ext cx="841248" cy="841248"/>
          </a:xfrm>
          <a:prstGeom prst="ellipse">
            <a:avLst/>
          </a:prstGeom>
          <a:solidFill>
            <a:srgbClr val="2E4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Segoe UI Symbol"/>
              </a:rPr>
              <a:t>▦</a:t>
            </a:r>
          </a:p>
        </p:txBody>
      </p:sp>
      <p:sp>
        <p:nvSpPr>
          <p:cNvPr id="18" name="Oval 17"/>
          <p:cNvSpPr/>
          <p:nvPr/>
        </p:nvSpPr>
        <p:spPr>
          <a:xfrm>
            <a:off x="4178808" y="2011680"/>
            <a:ext cx="841248" cy="841248"/>
          </a:xfrm>
          <a:prstGeom prst="ellipse">
            <a:avLst/>
          </a:prstGeom>
          <a:solidFill>
            <a:srgbClr val="5AA54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200" b="1">
                <a:solidFill>
                  <a:srgbClr val="FFFFFF"/>
                </a:solidFill>
              </a:rPr>
              <a:t>Rp</a:t>
            </a:r>
          </a:p>
        </p:txBody>
      </p:sp>
      <p:sp>
        <p:nvSpPr>
          <p:cNvPr id="19" name="Oval 18"/>
          <p:cNvSpPr/>
          <p:nvPr/>
        </p:nvSpPr>
        <p:spPr>
          <a:xfrm>
            <a:off x="6912864" y="2057400"/>
            <a:ext cx="841248" cy="841248"/>
          </a:xfrm>
          <a:prstGeom prst="ellipse">
            <a:avLst/>
          </a:prstGeom>
          <a:solidFill>
            <a:srgbClr val="6E57B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Segoe UI Symbo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2"/>
          <p:cNvPicPr>
            <a:picLocks noChangeAspect="1"/>
          </p:cNvPicPr>
          <p:nvPr/>
        </p:nvPicPr>
        <p:blipFill>
          <a:blip r:embed="rId2"/>
          <a:stretch>
            <a:fillRect/>
          </a:stretch>
        </p:blipFill>
        <p:spPr>
          <a:xfrm>
            <a:off x="772418" y="2138660"/>
            <a:ext cx="401836" cy="491133"/>
          </a:xfrm>
          <a:prstGeom prst="rect">
            <a:avLst/>
          </a:prstGeom>
        </p:spPr>
      </p:pic>
      <p:pic>
        <p:nvPicPr>
          <p:cNvPr id="4" name="Image 2" descr="visual 3"/>
          <p:cNvPicPr>
            <a:picLocks noChangeAspect="1"/>
          </p:cNvPicPr>
          <p:nvPr/>
        </p:nvPicPr>
        <p:blipFill>
          <a:blip r:embed="rId3"/>
          <a:stretch>
            <a:fillRect/>
          </a:stretch>
        </p:blipFill>
        <p:spPr>
          <a:xfrm>
            <a:off x="607219" y="2035969"/>
            <a:ext cx="727770" cy="718840"/>
          </a:xfrm>
          <a:prstGeom prst="rect">
            <a:avLst/>
          </a:prstGeom>
        </p:spPr>
      </p:pic>
      <p:sp>
        <p:nvSpPr>
          <p:cNvPr id="5" name="Text 0"/>
          <p:cNvSpPr/>
          <p:nvPr/>
        </p:nvSpPr>
        <p:spPr>
          <a:xfrm>
            <a:off x="495598" y="335554"/>
            <a:ext cx="6179344" cy="477554"/>
          </a:xfrm>
          <a:prstGeom prst="rect">
            <a:avLst/>
          </a:prstGeom>
          <a:noFill/>
        </p:spPr>
        <p:txBody>
          <a:bodyPr wrap="square" lIns="0" tIns="0" rIns="0" bIns="0" rtlCol="0" anchor="t"/>
          <a:lstStyle/>
          <a:p>
            <a:pPr algn="l"/>
            <a:r>
              <a:rPr sz="3010" b="1">
                <a:solidFill>
                  <a:srgbClr val="010000"/>
                </a:solidFill>
                <a:latin typeface="Segoe UI"/>
              </a:rPr>
              <a:t>Apa itu Desain Pameran?</a:t>
            </a:r>
          </a:p>
        </p:txBody>
      </p:sp>
      <p:sp>
        <p:nvSpPr>
          <p:cNvPr id="6" name="Text 1"/>
          <p:cNvSpPr/>
          <p:nvPr/>
        </p:nvSpPr>
        <p:spPr>
          <a:xfrm>
            <a:off x="598289" y="1305223"/>
            <a:ext cx="84832" cy="186035"/>
          </a:xfrm>
          <a:prstGeom prst="rect">
            <a:avLst/>
          </a:prstGeom>
          <a:noFill/>
        </p:spPr>
        <p:txBody>
          <a:bodyPr wrap="none" lIns="0" tIns="0" rIns="0" bIns="0" rtlCol="0" anchor="t"/>
          <a:lstStyle/>
          <a:p>
            <a:pPr marL="0" indent="0" algn="l">
              <a:buNone/>
            </a:pPr>
            <a:r>
              <a:rPr lang="en-US" sz="1170" b="1" dirty="0">
                <a:solidFill>
                  <a:srgbClr val="FCFDFD"/>
                </a:solidFill>
                <a:latin typeface="Segoe UI" panose="020B0502040204020203" pitchFamily="34" charset="0"/>
                <a:ea typeface="Segoe UI" panose="020B0502040204020203" pitchFamily="34" charset="-122"/>
                <a:cs typeface="Segoe UI" panose="020B0502040204020203" pitchFamily="34" charset="-120"/>
              </a:rPr>
              <a:t>1</a:t>
            </a:r>
            <a:endParaRPr lang="en-US" sz="1170" dirty="0"/>
          </a:p>
        </p:txBody>
      </p:sp>
      <p:sp>
        <p:nvSpPr>
          <p:cNvPr id="7" name="Text 2"/>
          <p:cNvSpPr/>
          <p:nvPr/>
        </p:nvSpPr>
        <p:spPr>
          <a:xfrm>
            <a:off x="924223" y="1280812"/>
            <a:ext cx="3603129" cy="218639"/>
          </a:xfrm>
          <a:prstGeom prst="rect">
            <a:avLst/>
          </a:prstGeom>
          <a:noFill/>
        </p:spPr>
        <p:txBody>
          <a:bodyPr wrap="square" lIns="0" tIns="0" rIns="0" bIns="0" rtlCol="0" anchor="t"/>
          <a:lstStyle/>
          <a:p>
            <a:pPr algn="l"/>
            <a:r>
              <a:rPr sz="1375" b="1">
                <a:solidFill>
                  <a:srgbClr val="000000"/>
                </a:solidFill>
                <a:latin typeface="Segoe UI"/>
              </a:rPr>
              <a:t>Seni &amp; Sains Merancang Pengalaman</a:t>
            </a:r>
          </a:p>
        </p:txBody>
      </p:sp>
      <p:sp>
        <p:nvSpPr>
          <p:cNvPr id="8" name="Text 3"/>
          <p:cNvSpPr/>
          <p:nvPr/>
        </p:nvSpPr>
        <p:spPr>
          <a:xfrm>
            <a:off x="1589484" y="1856731"/>
            <a:ext cx="2750344" cy="152449"/>
          </a:xfrm>
          <a:prstGeom prst="rect">
            <a:avLst/>
          </a:prstGeom>
          <a:noFill/>
        </p:spPr>
        <p:txBody>
          <a:bodyPr wrap="square" lIns="0" tIns="0" rIns="0" bIns="0" rtlCol="0" anchor="t"/>
          <a:lstStyle/>
          <a:p>
            <a:pPr algn="l"/>
            <a:r>
              <a:rPr sz="940">
                <a:solidFill>
                  <a:srgbClr val="141315"/>
                </a:solidFill>
                <a:latin typeface="Segoe UI"/>
              </a:rPr>
              <a:t>Desain pameran adalah seni sekaligus sains</a:t>
            </a:r>
          </a:p>
        </p:txBody>
      </p:sp>
      <p:sp>
        <p:nvSpPr>
          <p:cNvPr id="9" name="Text 4"/>
          <p:cNvSpPr/>
          <p:nvPr/>
        </p:nvSpPr>
        <p:spPr>
          <a:xfrm>
            <a:off x="1581864" y="2018779"/>
            <a:ext cx="3210223" cy="137979"/>
          </a:xfrm>
          <a:prstGeom prst="rect">
            <a:avLst/>
          </a:prstGeom>
          <a:noFill/>
        </p:spPr>
        <p:txBody>
          <a:bodyPr wrap="square" lIns="0" tIns="0" rIns="0" bIns="0" rtlCol="0" anchor="t"/>
          <a:lstStyle/>
          <a:p>
            <a:pPr algn="l"/>
            <a:r>
              <a:rPr sz="1040" b="1">
                <a:solidFill>
                  <a:srgbClr val="195DBD"/>
                </a:solidFill>
                <a:latin typeface="Segoe UI"/>
              </a:rPr>
              <a:t>menciptakan ruang yang bercerita. Bukan sekadar</a:t>
            </a:r>
          </a:p>
        </p:txBody>
      </p:sp>
      <p:sp>
        <p:nvSpPr>
          <p:cNvPr id="10" name="Text 5"/>
          <p:cNvSpPr/>
          <p:nvPr/>
        </p:nvSpPr>
        <p:spPr>
          <a:xfrm>
            <a:off x="1583710" y="2161758"/>
            <a:ext cx="3098602" cy="550188"/>
          </a:xfrm>
          <a:prstGeom prst="rect">
            <a:avLst/>
          </a:prstGeom>
          <a:noFill/>
        </p:spPr>
        <p:txBody>
          <a:bodyPr wrap="square" lIns="0" tIns="0" rIns="0" bIns="0" rtlCol="0" anchor="t"/>
          <a:lstStyle/>
          <a:p>
            <a:pPr algn="l"/>
            <a:r>
              <a:rPr sz="980">
                <a:solidFill>
                  <a:srgbClr val="131314"/>
                </a:solidFill>
                <a:latin typeface="Tahoma"/>
              </a:rPr>
              <a:t>memajang objek, melainkan menata cahaya, warna,</a:t>
            </a:r>
          </a:p>
          <a:p>
            <a:pPr algn="l"/>
            <a:r>
              <a:rPr sz="980">
                <a:solidFill>
                  <a:srgbClr val="131314"/>
                </a:solidFill>
                <a:latin typeface="Tahoma"/>
              </a:rPr>
              <a:t>teknologi &amp; penempatan untuk membentuk pengalaman.</a:t>
            </a:r>
          </a:p>
        </p:txBody>
      </p:sp>
      <p:sp>
        <p:nvSpPr>
          <p:cNvPr id="11" name="Text 6"/>
          <p:cNvSpPr/>
          <p:nvPr/>
        </p:nvSpPr>
        <p:spPr>
          <a:xfrm>
            <a:off x="1384102" y="3343830"/>
            <a:ext cx="1071563" cy="214564"/>
          </a:xfrm>
          <a:prstGeom prst="rect">
            <a:avLst/>
          </a:prstGeom>
          <a:noFill/>
        </p:spPr>
        <p:txBody>
          <a:bodyPr wrap="square" lIns="0" tIns="0" rIns="0" bIns="0" rtlCol="0" anchor="t"/>
          <a:lstStyle/>
          <a:p>
            <a:pPr algn="l"/>
            <a:r>
              <a:rPr sz="1350" b="1">
                <a:solidFill>
                  <a:srgbClr val="0B52B5"/>
                </a:solidFill>
                <a:latin typeface="Segoe UI"/>
              </a:rPr>
              <a:t>Inti Definisi</a:t>
            </a:r>
          </a:p>
        </p:txBody>
      </p:sp>
      <p:sp>
        <p:nvSpPr>
          <p:cNvPr id="12" name="Text 7"/>
          <p:cNvSpPr/>
          <p:nvPr/>
        </p:nvSpPr>
        <p:spPr>
          <a:xfrm>
            <a:off x="776883" y="3665887"/>
            <a:ext cx="187523" cy="218527"/>
          </a:xfrm>
          <a:prstGeom prst="rect">
            <a:avLst/>
          </a:prstGeom>
          <a:noFill/>
        </p:spPr>
        <p:txBody>
          <a:bodyPr wrap="none" lIns="0" tIns="0" rIns="0" bIns="0" rtlCol="0" anchor="t"/>
          <a:lstStyle/>
          <a:p>
            <a:pPr marL="0" indent="0" algn="l">
              <a:buNone/>
            </a:pPr>
            <a:r>
              <a:rPr lang="en-US" sz="1295" b="1" dirty="0">
                <a:solidFill>
                  <a:srgbClr val="FDFDFE"/>
                </a:solidFill>
                <a:latin typeface="Tahoma" panose="020B0604030504040204" pitchFamily="34" charset="0"/>
                <a:ea typeface="Tahoma" panose="020B0604030504040204" pitchFamily="34" charset="-122"/>
                <a:cs typeface="Tahoma" panose="020B0604030504040204" pitchFamily="34" charset="-120"/>
              </a:rPr>
              <a:t>+</a:t>
            </a:r>
            <a:endParaRPr lang="en-US" sz="1295" dirty="0"/>
          </a:p>
        </p:txBody>
      </p:sp>
      <p:sp>
        <p:nvSpPr>
          <p:cNvPr id="13" name="Text 8"/>
          <p:cNvSpPr/>
          <p:nvPr/>
        </p:nvSpPr>
        <p:spPr>
          <a:xfrm>
            <a:off x="1397496" y="3678877"/>
            <a:ext cx="3089672" cy="151959"/>
          </a:xfrm>
          <a:prstGeom prst="rect">
            <a:avLst/>
          </a:prstGeom>
          <a:noFill/>
        </p:spPr>
        <p:txBody>
          <a:bodyPr wrap="square" lIns="0" tIns="0" rIns="0" bIns="0" rtlCol="0" anchor="t"/>
          <a:lstStyle/>
          <a:p>
            <a:pPr algn="l"/>
            <a:r>
              <a:rPr sz="895" b="1" i="1">
                <a:solidFill>
                  <a:srgbClr val="1155B1"/>
                </a:solidFill>
                <a:latin typeface="Segoe UI"/>
              </a:rPr>
              <a:t>“A well-designed exhibition isn't just a collection</a:t>
            </a:r>
          </a:p>
        </p:txBody>
      </p:sp>
      <p:sp>
        <p:nvSpPr>
          <p:cNvPr id="14" name="Text 9"/>
          <p:cNvSpPr/>
          <p:nvPr/>
        </p:nvSpPr>
        <p:spPr>
          <a:xfrm>
            <a:off x="1518047" y="3888234"/>
            <a:ext cx="3241477" cy="572144"/>
          </a:xfrm>
          <a:prstGeom prst="rect">
            <a:avLst/>
          </a:prstGeom>
          <a:noFill/>
        </p:spPr>
        <p:txBody>
          <a:bodyPr wrap="square" lIns="0" tIns="0" rIns="0" bIns="0" rtlCol="0" anchor="t"/>
          <a:lstStyle/>
          <a:p>
            <a:pPr algn="l"/>
            <a:r>
              <a:rPr sz="940">
                <a:solidFill>
                  <a:srgbClr val="211D1D"/>
                </a:solidFill>
                <a:latin typeface="Segoe UI"/>
              </a:rPr>
              <a:t>of objects — it's a journey.”  (Museology Insights)</a:t>
            </a:r>
          </a:p>
        </p:txBody>
      </p:sp>
      <p:sp>
        <p:nvSpPr>
          <p:cNvPr id="15" name="Rectangle 14"/>
          <p:cNvSpPr/>
          <p:nvPr/>
        </p:nvSpPr>
        <p:spPr>
          <a:xfrm>
            <a:off x="1589405" y="2675890"/>
            <a:ext cx="3389630" cy="305435"/>
          </a:xfrm>
          <a:prstGeom prst="rect">
            <a:avLst/>
          </a:prstGeom>
          <a:noFill/>
        </p:spPr>
        <p:txBody>
          <a:bodyPr wrap="square" lIns="0" tIns="0" rIns="0" bIns="0" rtlCol="0" anchor="t">
            <a:noAutofit/>
          </a:bodyPr>
          <a:lstStyle/>
          <a:p>
            <a:pPr algn="l"/>
            <a:r>
              <a:rPr sz="940" i="1">
                <a:solidFill>
                  <a:srgbClr val="141315"/>
                </a:solidFill>
                <a:latin typeface="Segoe UI"/>
              </a:rPr>
              <a:t>Pameran = perjalanan melewati waktu, emosi, dan ide.</a:t>
            </a:r>
          </a:p>
        </p:txBody>
      </p:sp>
      <p:pic>
        <p:nvPicPr>
          <p:cNvPr id="16" name="Picture 15" descr="s03_c.jpg"/>
          <p:cNvPicPr>
            <a:picLocks noChangeAspect="1"/>
          </p:cNvPicPr>
          <p:nvPr/>
        </p:nvPicPr>
        <p:blipFill>
          <a:blip r:embed="rId6"/>
          <a:stretch>
            <a:fillRect/>
          </a:stretch>
        </p:blipFill>
        <p:spPr>
          <a:xfrm>
            <a:off x="5138928" y="1115568"/>
            <a:ext cx="3794760" cy="35844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27432000" y="1393031"/>
            <a:ext cx="580430" cy="571500"/>
          </a:xfrm>
          <a:prstGeom prst="rect">
            <a:avLst/>
          </a:prstGeom>
        </p:spPr>
      </p:pic>
      <p:pic>
        <p:nvPicPr>
          <p:cNvPr id="4" name="Image 2" descr="visual 2"/>
          <p:cNvPicPr>
            <a:picLocks noChangeAspect="1"/>
          </p:cNvPicPr>
          <p:nvPr/>
        </p:nvPicPr>
        <p:blipFill>
          <a:blip r:embed="rId3"/>
          <a:stretch>
            <a:fillRect/>
          </a:stretch>
        </p:blipFill>
        <p:spPr>
          <a:xfrm>
            <a:off x="4630043" y="2888754"/>
            <a:ext cx="468809" cy="468809"/>
          </a:xfrm>
          <a:prstGeom prst="rect">
            <a:avLst/>
          </a:prstGeom>
        </p:spPr>
      </p:pic>
      <p:pic>
        <p:nvPicPr>
          <p:cNvPr id="5" name="Image 3" descr="visual 3"/>
          <p:cNvPicPr>
            <a:picLocks noChangeAspect="1"/>
          </p:cNvPicPr>
          <p:nvPr/>
        </p:nvPicPr>
        <p:blipFill>
          <a:blip r:embed="rId4"/>
          <a:stretch>
            <a:fillRect/>
          </a:stretch>
        </p:blipFill>
        <p:spPr>
          <a:xfrm>
            <a:off x="4728270" y="3031629"/>
            <a:ext cx="267891" cy="183059"/>
          </a:xfrm>
          <a:prstGeom prst="rect">
            <a:avLst/>
          </a:prstGeom>
        </p:spPr>
      </p:pic>
      <p:pic>
        <p:nvPicPr>
          <p:cNvPr id="6" name="Image 4" descr="visual 4"/>
          <p:cNvPicPr>
            <a:picLocks noChangeAspect="1"/>
          </p:cNvPicPr>
          <p:nvPr/>
        </p:nvPicPr>
        <p:blipFill>
          <a:blip r:embed="rId5"/>
          <a:stretch>
            <a:fillRect/>
          </a:stretch>
        </p:blipFill>
        <p:spPr>
          <a:xfrm>
            <a:off x="27432000" y="1522512"/>
            <a:ext cx="285750" cy="308074"/>
          </a:xfrm>
          <a:prstGeom prst="rect">
            <a:avLst/>
          </a:prstGeom>
        </p:spPr>
      </p:pic>
      <p:sp>
        <p:nvSpPr>
          <p:cNvPr id="7" name="Text 0"/>
          <p:cNvSpPr/>
          <p:nvPr/>
        </p:nvSpPr>
        <p:spPr>
          <a:xfrm>
            <a:off x="308074" y="310615"/>
            <a:ext cx="5692676" cy="448642"/>
          </a:xfrm>
          <a:prstGeom prst="rect">
            <a:avLst/>
          </a:prstGeom>
          <a:noFill/>
        </p:spPr>
        <p:txBody>
          <a:bodyPr wrap="square" lIns="0" tIns="0" rIns="0" bIns="0" rtlCol="0" anchor="t"/>
          <a:lstStyle/>
          <a:p>
            <a:pPr algn="l"/>
            <a:r>
              <a:rPr sz="2825" b="1">
                <a:solidFill>
                  <a:srgbClr val="010B24"/>
                </a:solidFill>
                <a:latin typeface="Segoe UI"/>
              </a:rPr>
              <a:t>Tata Ruang &amp; Alur Pengunjung</a:t>
            </a:r>
          </a:p>
        </p:txBody>
      </p:sp>
      <p:sp>
        <p:nvSpPr>
          <p:cNvPr id="8" name="Text 1"/>
          <p:cNvSpPr/>
          <p:nvPr/>
        </p:nvSpPr>
        <p:spPr>
          <a:xfrm>
            <a:off x="379512" y="975122"/>
            <a:ext cx="120551" cy="251147"/>
          </a:xfrm>
          <a:prstGeom prst="rect">
            <a:avLst/>
          </a:prstGeom>
          <a:noFill/>
        </p:spPr>
        <p:txBody>
          <a:bodyPr wrap="square" lIns="0" tIns="0" rIns="0" bIns="0" rtlCol="0" anchor="t"/>
          <a:lstStyle/>
          <a:p>
            <a:pPr algn="l"/>
            <a:r>
              <a:rPr sz="1580" b="1">
                <a:solidFill>
                  <a:srgbClr val="F5F9FD"/>
                </a:solidFill>
                <a:latin typeface="Arial"/>
              </a:rPr>
              <a:t>1</a:t>
            </a:r>
          </a:p>
        </p:txBody>
      </p:sp>
      <p:sp>
        <p:nvSpPr>
          <p:cNvPr id="9" name="Text 2"/>
          <p:cNvSpPr/>
          <p:nvPr/>
        </p:nvSpPr>
        <p:spPr>
          <a:xfrm>
            <a:off x="665262" y="966830"/>
            <a:ext cx="3388816" cy="241183"/>
          </a:xfrm>
          <a:prstGeom prst="rect">
            <a:avLst/>
          </a:prstGeom>
          <a:noFill/>
        </p:spPr>
        <p:txBody>
          <a:bodyPr wrap="square" lIns="0" tIns="0" rIns="0" bIns="0" rtlCol="0" anchor="t"/>
          <a:lstStyle/>
          <a:p>
            <a:pPr algn="l"/>
            <a:r>
              <a:rPr sz="1520" b="1">
                <a:solidFill>
                  <a:srgbClr val="010C35"/>
                </a:solidFill>
                <a:latin typeface="Arial"/>
              </a:rPr>
              <a:t>Mendesain Perjalanan Pengunjung</a:t>
            </a:r>
          </a:p>
        </p:txBody>
      </p:sp>
      <p:sp>
        <p:nvSpPr>
          <p:cNvPr id="10" name="Text 3"/>
          <p:cNvSpPr/>
          <p:nvPr/>
        </p:nvSpPr>
        <p:spPr>
          <a:xfrm>
            <a:off x="5116711" y="1417730"/>
            <a:ext cx="3402211" cy="1033469"/>
          </a:xfrm>
          <a:prstGeom prst="rect">
            <a:avLst/>
          </a:prstGeom>
          <a:noFill/>
        </p:spPr>
        <p:txBody>
          <a:bodyPr wrap="square" lIns="0" tIns="0" rIns="0" bIns="0" rtlCol="0" anchor="t"/>
          <a:lstStyle/>
          <a:p>
            <a:pPr algn="l"/>
            <a:r>
              <a:rPr sz="1085">
                <a:solidFill>
                  <a:srgbClr val="000000"/>
                </a:solidFill>
                <a:latin typeface="Arial"/>
              </a:rPr>
              <a:t>Zona dasar: Entrance → Karya Utama → Karya Pendukung → Area Interaktif → Informasi → Exit/Feedback. Setiap zona punya fungsi &amp; pesan.</a:t>
            </a:r>
          </a:p>
        </p:txBody>
      </p:sp>
      <p:sp>
        <p:nvSpPr>
          <p:cNvPr id="11" name="Text 4"/>
          <p:cNvSpPr/>
          <p:nvPr/>
        </p:nvSpPr>
        <p:spPr>
          <a:xfrm>
            <a:off x="5214938" y="2983472"/>
            <a:ext cx="1768078" cy="264108"/>
          </a:xfrm>
          <a:prstGeom prst="rect">
            <a:avLst/>
          </a:prstGeom>
          <a:noFill/>
        </p:spPr>
        <p:txBody>
          <a:bodyPr wrap="square" lIns="0" tIns="0" rIns="0" bIns="0" rtlCol="0" anchor="t"/>
          <a:lstStyle/>
          <a:p>
            <a:pPr algn="l"/>
            <a:r>
              <a:rPr sz="1665" b="1">
                <a:solidFill>
                  <a:srgbClr val="024FA9"/>
                </a:solidFill>
                <a:latin typeface="Segoe UI"/>
              </a:rPr>
              <a:t>Visitor Journey</a:t>
            </a:r>
          </a:p>
        </p:txBody>
      </p:sp>
      <p:sp>
        <p:nvSpPr>
          <p:cNvPr id="12" name="Text 5"/>
          <p:cNvSpPr/>
          <p:nvPr/>
        </p:nvSpPr>
        <p:spPr>
          <a:xfrm>
            <a:off x="4755059" y="3561338"/>
            <a:ext cx="276820" cy="234404"/>
          </a:xfrm>
          <a:prstGeom prst="rect">
            <a:avLst/>
          </a:prstGeom>
          <a:noFill/>
        </p:spPr>
        <p:txBody>
          <a:bodyPr wrap="square" lIns="0" tIns="0" rIns="0" bIns="0" rtlCol="0" anchor="t"/>
          <a:lstStyle/>
          <a:p>
            <a:pPr algn="l"/>
          </a:p>
        </p:txBody>
      </p:sp>
      <p:sp>
        <p:nvSpPr>
          <p:cNvPr id="13" name="Text 6"/>
          <p:cNvSpPr/>
          <p:nvPr/>
        </p:nvSpPr>
        <p:spPr>
          <a:xfrm>
            <a:off x="5063133" y="3581280"/>
            <a:ext cx="3214688" cy="963931"/>
          </a:xfrm>
          <a:prstGeom prst="rect">
            <a:avLst/>
          </a:prstGeom>
          <a:noFill/>
        </p:spPr>
        <p:txBody>
          <a:bodyPr wrap="square" lIns="0" tIns="0" rIns="0" bIns="0" rtlCol="0" anchor="t"/>
          <a:lstStyle/>
          <a:p>
            <a:pPr algn="l"/>
            <a:r>
              <a:rPr sz="1270">
                <a:solidFill>
                  <a:srgbClr val="000000"/>
                </a:solidFill>
                <a:latin typeface="Arial"/>
              </a:rPr>
              <a:t>Attract → Orient → Engage → Understand → Respond → Remember — alur yang mudah dipahami, tanpa bottleneck, dengan focal point jelas.</a:t>
            </a:r>
          </a:p>
        </p:txBody>
      </p:sp>
      <p:sp>
        <p:nvSpPr>
          <p:cNvPr id="14" name="Text 7"/>
          <p:cNvSpPr/>
          <p:nvPr/>
        </p:nvSpPr>
        <p:spPr>
          <a:xfrm>
            <a:off x="8219777" y="4322505"/>
            <a:ext cx="267891" cy="213777"/>
          </a:xfrm>
          <a:prstGeom prst="rect">
            <a:avLst/>
          </a:prstGeom>
          <a:noFill/>
        </p:spPr>
        <p:txBody>
          <a:bodyPr wrap="none" lIns="0" tIns="0" rIns="0" bIns="0" rtlCol="0" anchor="t"/>
          <a:lstStyle/>
          <a:p>
            <a:pPr marL="0" indent="0" algn="l">
              <a:buNone/>
            </a:pPr>
            <a:r>
              <a:rPr lang="en-US" sz="1265" b="1" dirty="0">
                <a:solidFill>
                  <a:srgbClr val="0257B5"/>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65" dirty="0"/>
          </a:p>
        </p:txBody>
      </p:sp>
      <p:pic>
        <p:nvPicPr>
          <p:cNvPr id="15" name="Picture 14" descr="s04_c.jpg"/>
          <p:cNvPicPr>
            <a:picLocks noChangeAspect="1"/>
          </p:cNvPicPr>
          <p:nvPr/>
        </p:nvPicPr>
        <p:blipFill>
          <a:blip r:embed="rId8"/>
          <a:stretch>
            <a:fillRect/>
          </a:stretch>
        </p:blipFill>
        <p:spPr>
          <a:xfrm>
            <a:off x="237744" y="1371600"/>
            <a:ext cx="4023360" cy="3346704"/>
          </a:xfrm>
          <a:prstGeom prst="rect">
            <a:avLst/>
          </a:prstGeom>
        </p:spPr>
      </p:pic>
      <p:sp>
        <p:nvSpPr>
          <p:cNvPr id="16" name="Oval 15"/>
          <p:cNvSpPr/>
          <p:nvPr/>
        </p:nvSpPr>
        <p:spPr>
          <a:xfrm>
            <a:off x="4443984" y="1371600"/>
            <a:ext cx="603504" cy="603504"/>
          </a:xfrm>
          <a:prstGeom prst="ellipse">
            <a:avLst/>
          </a:prstGeom>
          <a:solidFill>
            <a:srgbClr val="1F6E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700" b="1">
                <a:solidFill>
                  <a:srgbClr val="FFFFFF"/>
                </a:solidFill>
                <a:latin typeface="Segoe UI Symbo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27432000" y="1393031"/>
            <a:ext cx="580430" cy="571500"/>
          </a:xfrm>
          <a:prstGeom prst="rect">
            <a:avLst/>
          </a:prstGeom>
        </p:spPr>
      </p:pic>
      <p:pic>
        <p:nvPicPr>
          <p:cNvPr id="4" name="Image 2" descr="visual 2"/>
          <p:cNvPicPr>
            <a:picLocks noChangeAspect="1"/>
          </p:cNvPicPr>
          <p:nvPr/>
        </p:nvPicPr>
        <p:blipFill>
          <a:blip r:embed="rId3"/>
          <a:stretch>
            <a:fillRect/>
          </a:stretch>
        </p:blipFill>
        <p:spPr>
          <a:xfrm>
            <a:off x="4630043" y="2888754"/>
            <a:ext cx="468809" cy="468809"/>
          </a:xfrm>
          <a:prstGeom prst="rect">
            <a:avLst/>
          </a:prstGeom>
        </p:spPr>
      </p:pic>
      <p:pic>
        <p:nvPicPr>
          <p:cNvPr id="5" name="Image 3" descr="visual 3"/>
          <p:cNvPicPr>
            <a:picLocks noChangeAspect="1"/>
          </p:cNvPicPr>
          <p:nvPr/>
        </p:nvPicPr>
        <p:blipFill>
          <a:blip r:embed="rId4"/>
          <a:stretch>
            <a:fillRect/>
          </a:stretch>
        </p:blipFill>
        <p:spPr>
          <a:xfrm>
            <a:off x="4728270" y="3031629"/>
            <a:ext cx="267891" cy="183059"/>
          </a:xfrm>
          <a:prstGeom prst="rect">
            <a:avLst/>
          </a:prstGeom>
        </p:spPr>
      </p:pic>
      <p:pic>
        <p:nvPicPr>
          <p:cNvPr id="6" name="Image 4" descr="visual 4"/>
          <p:cNvPicPr>
            <a:picLocks noChangeAspect="1"/>
          </p:cNvPicPr>
          <p:nvPr/>
        </p:nvPicPr>
        <p:blipFill>
          <a:blip r:embed="rId5"/>
          <a:stretch>
            <a:fillRect/>
          </a:stretch>
        </p:blipFill>
        <p:spPr>
          <a:xfrm>
            <a:off x="27432000" y="1522512"/>
            <a:ext cx="285750" cy="308074"/>
          </a:xfrm>
          <a:prstGeom prst="rect">
            <a:avLst/>
          </a:prstGeom>
        </p:spPr>
      </p:pic>
      <p:sp>
        <p:nvSpPr>
          <p:cNvPr id="7" name="Text 0"/>
          <p:cNvSpPr/>
          <p:nvPr/>
        </p:nvSpPr>
        <p:spPr>
          <a:xfrm>
            <a:off x="308074" y="310615"/>
            <a:ext cx="5692676" cy="448642"/>
          </a:xfrm>
          <a:prstGeom prst="rect">
            <a:avLst/>
          </a:prstGeom>
          <a:noFill/>
        </p:spPr>
        <p:txBody>
          <a:bodyPr wrap="square" lIns="0" tIns="0" rIns="0" bIns="0" rtlCol="0" anchor="t"/>
          <a:lstStyle/>
          <a:p>
            <a:pPr algn="l"/>
            <a:r>
              <a:rPr sz="2825" b="1">
                <a:solidFill>
                  <a:srgbClr val="010B24"/>
                </a:solidFill>
                <a:latin typeface="Segoe UI"/>
              </a:rPr>
              <a:t>Pencahayaan (Power of Lighting)</a:t>
            </a:r>
          </a:p>
        </p:txBody>
      </p:sp>
      <p:sp>
        <p:nvSpPr>
          <p:cNvPr id="8" name="Text 1"/>
          <p:cNvSpPr/>
          <p:nvPr/>
        </p:nvSpPr>
        <p:spPr>
          <a:xfrm>
            <a:off x="379730" y="975360"/>
            <a:ext cx="120650" cy="251460"/>
          </a:xfrm>
          <a:prstGeom prst="rect">
            <a:avLst/>
          </a:prstGeom>
          <a:noFill/>
        </p:spPr>
        <p:txBody>
          <a:bodyPr wrap="none" lIns="0" tIns="0" rIns="0" bIns="0" rtlCol="0" anchor="t"/>
          <a:lstStyle/>
          <a:p>
            <a:pPr marL="0" indent="0" algn="l">
              <a:buNone/>
            </a:pPr>
            <a:r>
              <a:rPr lang="en-US" sz="1580" dirty="0">
                <a:solidFill>
                  <a:schemeClr val="bg1"/>
                </a:solidFill>
              </a:rPr>
              <a:t>3</a:t>
            </a:r>
            <a:endParaRPr lang="en-US" sz="1580" dirty="0">
              <a:solidFill>
                <a:schemeClr val="bg1"/>
              </a:solidFill>
            </a:endParaRPr>
          </a:p>
        </p:txBody>
      </p:sp>
      <p:sp>
        <p:nvSpPr>
          <p:cNvPr id="9" name="Text 2"/>
          <p:cNvSpPr/>
          <p:nvPr/>
        </p:nvSpPr>
        <p:spPr>
          <a:xfrm>
            <a:off x="665262" y="966830"/>
            <a:ext cx="3388816" cy="241183"/>
          </a:xfrm>
          <a:prstGeom prst="rect">
            <a:avLst/>
          </a:prstGeom>
          <a:noFill/>
        </p:spPr>
        <p:txBody>
          <a:bodyPr wrap="square" lIns="0" tIns="0" rIns="0" bIns="0" rtlCol="0" anchor="t"/>
          <a:lstStyle/>
          <a:p>
            <a:pPr algn="l"/>
            <a:r>
              <a:rPr sz="1520" b="1">
                <a:solidFill>
                  <a:srgbClr val="010C35"/>
                </a:solidFill>
                <a:latin typeface="Arial"/>
              </a:rPr>
              <a:t>Cahaya membentuk suasana, fokus &amp; melindungi karya</a:t>
            </a:r>
          </a:p>
        </p:txBody>
      </p:sp>
      <p:sp>
        <p:nvSpPr>
          <p:cNvPr id="11" name="Text 4"/>
          <p:cNvSpPr/>
          <p:nvPr/>
        </p:nvSpPr>
        <p:spPr>
          <a:xfrm>
            <a:off x="5214938" y="2983472"/>
            <a:ext cx="1768078" cy="264108"/>
          </a:xfrm>
          <a:prstGeom prst="rect">
            <a:avLst/>
          </a:prstGeom>
          <a:noFill/>
        </p:spPr>
        <p:txBody>
          <a:bodyPr wrap="square" lIns="0" tIns="0" rIns="0" bIns="0" rtlCol="0" anchor="t"/>
          <a:lstStyle/>
          <a:p>
            <a:pPr algn="l"/>
            <a:r>
              <a:rPr sz="1665" b="1">
                <a:solidFill>
                  <a:srgbClr val="024FA9"/>
                </a:solidFill>
                <a:latin typeface="Segoe UI"/>
              </a:rPr>
              <a:t>Catatan Kurasi</a:t>
            </a:r>
          </a:p>
        </p:txBody>
      </p:sp>
      <p:sp>
        <p:nvSpPr>
          <p:cNvPr id="14" name="Text 7"/>
          <p:cNvSpPr/>
          <p:nvPr/>
        </p:nvSpPr>
        <p:spPr>
          <a:xfrm>
            <a:off x="8219777" y="4322505"/>
            <a:ext cx="267891" cy="213777"/>
          </a:xfrm>
          <a:prstGeom prst="rect">
            <a:avLst/>
          </a:prstGeom>
          <a:noFill/>
        </p:spPr>
        <p:txBody>
          <a:bodyPr wrap="none" lIns="0" tIns="0" rIns="0" bIns="0" rtlCol="0" anchor="t"/>
          <a:lstStyle/>
          <a:p>
            <a:pPr marL="0" indent="0" algn="l">
              <a:buNone/>
            </a:pPr>
            <a:r>
              <a:rPr lang="en-US" sz="1265" b="1" dirty="0">
                <a:solidFill>
                  <a:srgbClr val="0257B5"/>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65" dirty="0"/>
          </a:p>
        </p:txBody>
      </p:sp>
      <p:sp>
        <p:nvSpPr>
          <p:cNvPr id="15" name="Text Box 14"/>
          <p:cNvSpPr txBox="1"/>
          <p:nvPr/>
        </p:nvSpPr>
        <p:spPr>
          <a:xfrm>
            <a:off x="4639945" y="3561080"/>
            <a:ext cx="3846830" cy="984250"/>
          </a:xfrm>
          <a:prstGeom prst="rect">
            <a:avLst/>
          </a:prstGeom>
        </p:spPr>
        <p:txBody>
          <a:bodyPr wrap="square">
            <a:noAutofit/>
          </a:bodyPr>
          <a:p>
            <a:pPr algn="l"/>
            <a:r>
              <a:rPr sz="1000" b="0" i="0">
                <a:solidFill>
                  <a:srgbClr val="121212"/>
                </a:solidFill>
                <a:latin typeface="Arial"/>
              </a:rPr>
              <a:t>“Pencahayaan yang tepat mengarahkan mata pengunjung ke hal yang paling penting.”</a:t>
            </a:r>
          </a:p>
        </p:txBody>
      </p:sp>
      <p:sp>
        <p:nvSpPr>
          <p:cNvPr id="16" name="Text 7"/>
          <p:cNvSpPr/>
          <p:nvPr/>
        </p:nvSpPr>
        <p:spPr>
          <a:xfrm>
            <a:off x="4766647" y="3546535"/>
            <a:ext cx="267891" cy="213777"/>
          </a:xfrm>
          <a:prstGeom prst="rect">
            <a:avLst/>
          </a:prstGeom>
          <a:noFill/>
        </p:spPr>
        <p:txBody>
          <a:bodyPr wrap="none" lIns="0" tIns="0" rIns="0" bIns="0" rtlCol="0" anchor="t"/>
          <a:lstStyle/>
          <a:p>
            <a:pPr marL="0" indent="0" algn="l">
              <a:buNone/>
            </a:pPr>
            <a:r>
              <a:rPr lang="en-US" sz="1265" b="1" dirty="0">
                <a:solidFill>
                  <a:srgbClr val="0257B5"/>
                </a:solidFill>
                <a:latin typeface="Times New Roman" panose="02020603050405020304" pitchFamily="34" charset="0"/>
                <a:ea typeface="Times New Roman" panose="02020603050405020304" pitchFamily="34" charset="-122"/>
                <a:cs typeface="Times New Roman" panose="02020603050405020304" pitchFamily="34" charset="-120"/>
              </a:rPr>
              <a:t>"</a:t>
            </a:r>
            <a:endParaRPr lang="en-US" sz="1265" dirty="0"/>
          </a:p>
        </p:txBody>
      </p:sp>
      <p:sp>
        <p:nvSpPr>
          <p:cNvPr id="17" name="Text 3"/>
          <p:cNvSpPr/>
          <p:nvPr/>
        </p:nvSpPr>
        <p:spPr>
          <a:xfrm>
            <a:off x="5116711" y="1417730"/>
            <a:ext cx="3402211" cy="1033469"/>
          </a:xfrm>
          <a:prstGeom prst="rect">
            <a:avLst/>
          </a:prstGeom>
          <a:noFill/>
        </p:spPr>
        <p:txBody>
          <a:bodyPr wrap="square" lIns="0" tIns="0" rIns="0" bIns="0" rtlCol="0" anchor="t"/>
          <a:lstStyle/>
          <a:p>
            <a:pPr algn="l"/>
            <a:r>
              <a:rPr sz="1085">
                <a:solidFill>
                  <a:srgbClr val="000000"/>
                </a:solidFill>
                <a:latin typeface="Arial"/>
              </a:rPr>
              <a:t>Tiga peran cahaya: menyorot karya (spotlight), membangun atmosfer (ambient), dan merespons gerak pengunjung (interaktif).</a:t>
            </a:r>
          </a:p>
        </p:txBody>
      </p:sp>
      <p:pic>
        <p:nvPicPr>
          <p:cNvPr id="18" name="Picture 17" descr="s05_c.jpg"/>
          <p:cNvPicPr>
            <a:picLocks noChangeAspect="1"/>
          </p:cNvPicPr>
          <p:nvPr/>
        </p:nvPicPr>
        <p:blipFill>
          <a:blip r:embed="rId9"/>
          <a:stretch>
            <a:fillRect/>
          </a:stretch>
        </p:blipFill>
        <p:spPr>
          <a:xfrm>
            <a:off x="193040" y="1399540"/>
            <a:ext cx="4039870" cy="3339465"/>
          </a:xfrm>
          <a:prstGeom prst="rect">
            <a:avLst/>
          </a:prstGeom>
        </p:spPr>
      </p:pic>
      <p:sp>
        <p:nvSpPr>
          <p:cNvPr id="19" name="Oval 18"/>
          <p:cNvSpPr/>
          <p:nvPr/>
        </p:nvSpPr>
        <p:spPr>
          <a:xfrm>
            <a:off x="4443984" y="1371600"/>
            <a:ext cx="603504" cy="603504"/>
          </a:xfrm>
          <a:prstGeom prst="ellipse">
            <a:avLst/>
          </a:prstGeom>
          <a:solidFill>
            <a:srgbClr val="1F6E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Segoe UI Symbo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27432000" y="4152305"/>
            <a:ext cx="634008" cy="629543"/>
          </a:xfrm>
          <a:prstGeom prst="rect">
            <a:avLst/>
          </a:prstGeom>
        </p:spPr>
      </p:pic>
      <p:sp>
        <p:nvSpPr>
          <p:cNvPr id="4" name="Text 0"/>
          <p:cNvSpPr/>
          <p:nvPr/>
        </p:nvSpPr>
        <p:spPr>
          <a:xfrm>
            <a:off x="977801" y="273321"/>
            <a:ext cx="4237137" cy="1086043"/>
          </a:xfrm>
          <a:prstGeom prst="rect">
            <a:avLst/>
          </a:prstGeom>
          <a:noFill/>
        </p:spPr>
        <p:txBody>
          <a:bodyPr wrap="square" lIns="0" tIns="0" rIns="0" bIns="0" rtlCol="0" anchor="t"/>
          <a:lstStyle/>
          <a:p>
            <a:pPr algn="l"/>
            <a:r>
              <a:rPr sz="3420" b="1">
                <a:solidFill>
                  <a:srgbClr val="050501"/>
                </a:solidFill>
                <a:latin typeface="Arial"/>
              </a:rPr>
              <a:t>Penempatan Objek &amp; Kekuatan Cerita</a:t>
            </a:r>
          </a:p>
        </p:txBody>
      </p:sp>
      <p:sp>
        <p:nvSpPr>
          <p:cNvPr id="5" name="Text 1"/>
          <p:cNvSpPr/>
          <p:nvPr/>
        </p:nvSpPr>
        <p:spPr>
          <a:xfrm>
            <a:off x="982266" y="1323969"/>
            <a:ext cx="5018484" cy="564660"/>
          </a:xfrm>
          <a:prstGeom prst="rect">
            <a:avLst/>
          </a:prstGeom>
          <a:noFill/>
        </p:spPr>
        <p:txBody>
          <a:bodyPr wrap="square" lIns="0" tIns="0" rIns="0" bIns="0" rtlCol="0" anchor="t"/>
          <a:lstStyle/>
          <a:p>
            <a:pPr algn="l"/>
            <a:r>
              <a:rPr sz="1085">
                <a:solidFill>
                  <a:srgbClr val="353535"/>
                </a:solidFill>
                <a:latin typeface="Arial"/>
              </a:rPr>
              <a:t>Cara objek ditempatkan menentukan maknanya: posisi eye-level, pengelompokan objek terkait (sketsa + karya final), dan ruang kosong (negative space) agar tiap karya 'bernapas'.</a:t>
            </a:r>
          </a:p>
        </p:txBody>
      </p:sp>
      <p:sp>
        <p:nvSpPr>
          <p:cNvPr id="6" name="Text 2"/>
          <p:cNvSpPr/>
          <p:nvPr/>
        </p:nvSpPr>
        <p:spPr>
          <a:xfrm>
            <a:off x="2455664" y="4146415"/>
            <a:ext cx="1745754" cy="231554"/>
          </a:xfrm>
          <a:prstGeom prst="rect">
            <a:avLst/>
          </a:prstGeom>
          <a:noFill/>
        </p:spPr>
        <p:txBody>
          <a:bodyPr wrap="square" lIns="0" tIns="0" rIns="0" bIns="0" rtlCol="0" anchor="t"/>
          <a:lstStyle/>
          <a:p>
            <a:pPr algn="l"/>
            <a:r>
              <a:rPr sz="1460" b="1">
                <a:solidFill>
                  <a:srgbClr val="0C52C4"/>
                </a:solidFill>
                <a:latin typeface="Arial"/>
              </a:rPr>
              <a:t>Prinsip Storytelling</a:t>
            </a:r>
          </a:p>
        </p:txBody>
      </p:sp>
      <p:sp>
        <p:nvSpPr>
          <p:cNvPr id="7" name="Text 3"/>
          <p:cNvSpPr/>
          <p:nvPr/>
        </p:nvSpPr>
        <p:spPr>
          <a:xfrm>
            <a:off x="2455664" y="4404331"/>
            <a:ext cx="4116586" cy="364122"/>
          </a:xfrm>
          <a:prstGeom prst="rect">
            <a:avLst/>
          </a:prstGeom>
          <a:noFill/>
        </p:spPr>
        <p:txBody>
          <a:bodyPr wrap="square" lIns="0" tIns="0" rIns="0" bIns="0" rtlCol="0" anchor="t"/>
          <a:lstStyle/>
          <a:p>
            <a:pPr algn="l"/>
            <a:r>
              <a:rPr sz="1120">
                <a:solidFill>
                  <a:srgbClr val="242425"/>
                </a:solidFill>
                <a:latin typeface="Arial"/>
              </a:rPr>
              <a:t>“Pameran terbaik bukan memajang objek, tetapi menyusun cerita yang membuat pengunjung merasa — bukan sekadar tahu.”</a:t>
            </a:r>
          </a:p>
        </p:txBody>
      </p:sp>
      <p:pic>
        <p:nvPicPr>
          <p:cNvPr id="8" name="Picture 7" descr="s06_c.jpg"/>
          <p:cNvPicPr>
            <a:picLocks noChangeAspect="1"/>
          </p:cNvPicPr>
          <p:nvPr/>
        </p:nvPicPr>
        <p:blipFill>
          <a:blip r:embed="rId5"/>
          <a:stretch>
            <a:fillRect/>
          </a:stretch>
        </p:blipFill>
        <p:spPr>
          <a:xfrm>
            <a:off x="1097280" y="1993392"/>
            <a:ext cx="6967728" cy="1828800"/>
          </a:xfrm>
          <a:prstGeom prst="rect">
            <a:avLst/>
          </a:prstGeom>
        </p:spPr>
      </p:pic>
      <p:sp>
        <p:nvSpPr>
          <p:cNvPr id="9" name="Oval 8"/>
          <p:cNvSpPr/>
          <p:nvPr/>
        </p:nvSpPr>
        <p:spPr>
          <a:xfrm>
            <a:off x="1362456" y="4151376"/>
            <a:ext cx="630936" cy="630936"/>
          </a:xfrm>
          <a:prstGeom prst="ellipse">
            <a:avLst/>
          </a:prstGeom>
          <a:solidFill>
            <a:srgbClr val="1F6E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Segoe UI Symbol"/>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2"/>
          <p:cNvPicPr>
            <a:picLocks noChangeAspect="1"/>
          </p:cNvPicPr>
          <p:nvPr/>
        </p:nvPicPr>
        <p:blipFill>
          <a:blip r:embed="rId2"/>
          <a:stretch>
            <a:fillRect/>
          </a:stretch>
        </p:blipFill>
        <p:spPr>
          <a:xfrm>
            <a:off x="27432000" y="2210098"/>
            <a:ext cx="392906" cy="799207"/>
          </a:xfrm>
          <a:prstGeom prst="rect">
            <a:avLst/>
          </a:prstGeom>
        </p:spPr>
      </p:pic>
      <p:pic>
        <p:nvPicPr>
          <p:cNvPr id="4" name="Image 2" descr="visual 3"/>
          <p:cNvPicPr>
            <a:picLocks noChangeAspect="1"/>
          </p:cNvPicPr>
          <p:nvPr/>
        </p:nvPicPr>
        <p:blipFill>
          <a:blip r:embed="rId3"/>
          <a:stretch>
            <a:fillRect/>
          </a:stretch>
        </p:blipFill>
        <p:spPr>
          <a:xfrm>
            <a:off x="27432000" y="2357438"/>
            <a:ext cx="343793" cy="656332"/>
          </a:xfrm>
          <a:prstGeom prst="rect">
            <a:avLst/>
          </a:prstGeom>
        </p:spPr>
      </p:pic>
      <p:pic>
        <p:nvPicPr>
          <p:cNvPr id="5" name="Image 3" descr="visual 4"/>
          <p:cNvPicPr>
            <a:picLocks noChangeAspect="1"/>
          </p:cNvPicPr>
          <p:nvPr/>
        </p:nvPicPr>
        <p:blipFill>
          <a:blip r:embed="rId4"/>
          <a:stretch>
            <a:fillRect/>
          </a:stretch>
        </p:blipFill>
        <p:spPr>
          <a:xfrm>
            <a:off x="27432000" y="2210098"/>
            <a:ext cx="392906" cy="803672"/>
          </a:xfrm>
          <a:prstGeom prst="rect">
            <a:avLst/>
          </a:prstGeom>
        </p:spPr>
      </p:pic>
      <p:pic>
        <p:nvPicPr>
          <p:cNvPr id="6" name="Image 4" descr="visual 5"/>
          <p:cNvPicPr>
            <a:picLocks noChangeAspect="1"/>
          </p:cNvPicPr>
          <p:nvPr/>
        </p:nvPicPr>
        <p:blipFill>
          <a:blip r:embed="rId5"/>
          <a:stretch>
            <a:fillRect/>
          </a:stretch>
        </p:blipFill>
        <p:spPr>
          <a:xfrm>
            <a:off x="27432000" y="1754684"/>
            <a:ext cx="508992" cy="357188"/>
          </a:xfrm>
          <a:prstGeom prst="rect">
            <a:avLst/>
          </a:prstGeom>
        </p:spPr>
      </p:pic>
      <p:pic>
        <p:nvPicPr>
          <p:cNvPr id="7" name="Image 5" descr="visual 6"/>
          <p:cNvPicPr>
            <a:picLocks noChangeAspect="1"/>
          </p:cNvPicPr>
          <p:nvPr/>
        </p:nvPicPr>
        <p:blipFill>
          <a:blip r:embed="rId6"/>
          <a:stretch>
            <a:fillRect/>
          </a:stretch>
        </p:blipFill>
        <p:spPr>
          <a:xfrm>
            <a:off x="27432000" y="1754684"/>
            <a:ext cx="1553766" cy="1205508"/>
          </a:xfrm>
          <a:prstGeom prst="rect">
            <a:avLst/>
          </a:prstGeom>
        </p:spPr>
      </p:pic>
      <p:pic>
        <p:nvPicPr>
          <p:cNvPr id="8" name="Image 6" descr="visual 7"/>
          <p:cNvPicPr>
            <a:picLocks noChangeAspect="1"/>
          </p:cNvPicPr>
          <p:nvPr/>
        </p:nvPicPr>
        <p:blipFill>
          <a:blip r:embed="rId7"/>
          <a:stretch>
            <a:fillRect/>
          </a:stretch>
        </p:blipFill>
        <p:spPr>
          <a:xfrm>
            <a:off x="27432000" y="1986855"/>
            <a:ext cx="165199" cy="169664"/>
          </a:xfrm>
          <a:prstGeom prst="rect">
            <a:avLst/>
          </a:prstGeom>
        </p:spPr>
      </p:pic>
      <p:pic>
        <p:nvPicPr>
          <p:cNvPr id="9" name="Image 7" descr="visual 8"/>
          <p:cNvPicPr>
            <a:picLocks noChangeAspect="1"/>
          </p:cNvPicPr>
          <p:nvPr/>
        </p:nvPicPr>
        <p:blipFill>
          <a:blip r:embed="rId8"/>
          <a:stretch>
            <a:fillRect/>
          </a:stretch>
        </p:blipFill>
        <p:spPr>
          <a:xfrm>
            <a:off x="27432000" y="1982391"/>
            <a:ext cx="165199" cy="169664"/>
          </a:xfrm>
          <a:prstGeom prst="rect">
            <a:avLst/>
          </a:prstGeom>
        </p:spPr>
      </p:pic>
      <p:sp>
        <p:nvSpPr>
          <p:cNvPr id="10" name="Text 0"/>
          <p:cNvSpPr/>
          <p:nvPr/>
        </p:nvSpPr>
        <p:spPr>
          <a:xfrm>
            <a:off x="468809" y="378361"/>
            <a:ext cx="5549801" cy="506322"/>
          </a:xfrm>
          <a:prstGeom prst="rect">
            <a:avLst/>
          </a:prstGeom>
          <a:noFill/>
        </p:spPr>
        <p:txBody>
          <a:bodyPr wrap="none" lIns="0" tIns="0" rIns="0" bIns="0" rtlCol="0" anchor="t"/>
          <a:lstStyle/>
          <a:p>
            <a:pPr algn="l"/>
            <a:r>
              <a:rPr sz="3190" b="1">
                <a:solidFill>
                  <a:srgbClr val="03091C"/>
                </a:solidFill>
                <a:latin typeface="Segoe UI"/>
              </a:rPr>
              <a:t>Tiga Tipe Tata Letak</a:t>
            </a:r>
          </a:p>
        </p:txBody>
      </p:sp>
      <p:sp>
        <p:nvSpPr>
          <p:cNvPr id="11" name="Text 1"/>
          <p:cNvSpPr/>
          <p:nvPr/>
        </p:nvSpPr>
        <p:spPr>
          <a:xfrm>
            <a:off x="477738" y="1028529"/>
            <a:ext cx="7192863" cy="184056"/>
          </a:xfrm>
          <a:prstGeom prst="rect">
            <a:avLst/>
          </a:prstGeom>
          <a:noFill/>
        </p:spPr>
        <p:txBody>
          <a:bodyPr wrap="square" lIns="0" tIns="0" rIns="0" bIns="0" rtlCol="0" anchor="t"/>
          <a:lstStyle/>
          <a:p>
            <a:pPr algn="l"/>
            <a:r>
              <a:rPr sz="1160">
                <a:solidFill>
                  <a:srgbClr val="2D2D2D"/>
                </a:solidFill>
                <a:latin typeface="Arial"/>
              </a:rPr>
              <a:t>Video menjelaskan tiga pola layout yang mengarahkan pengunjung dengan cara berbeda:</a:t>
            </a:r>
          </a:p>
        </p:txBody>
      </p:sp>
      <p:sp>
        <p:nvSpPr>
          <p:cNvPr id="12" name="Text 2"/>
          <p:cNvSpPr/>
          <p:nvPr/>
        </p:nvSpPr>
        <p:spPr>
          <a:xfrm>
            <a:off x="812602" y="1799686"/>
            <a:ext cx="93762" cy="203761"/>
          </a:xfrm>
          <a:prstGeom prst="rect">
            <a:avLst/>
          </a:prstGeom>
          <a:noFill/>
        </p:spPr>
        <p:txBody>
          <a:bodyPr wrap="none" lIns="0" tIns="0" rIns="0" bIns="0" rtlCol="0" anchor="t"/>
          <a:lstStyle/>
          <a:p>
            <a:pPr marL="0" indent="0" algn="l">
              <a:buNone/>
            </a:pPr>
            <a:r>
              <a:rPr lang="en-US" sz="1285" b="1" dirty="0">
                <a:solidFill>
                  <a:srgbClr val="FBFCFE"/>
                </a:solidFill>
                <a:latin typeface="Segoe UI" panose="020B0502040204020203" pitchFamily="34" charset="0"/>
                <a:ea typeface="Segoe UI" panose="020B0502040204020203" pitchFamily="34" charset="-122"/>
                <a:cs typeface="Segoe UI" panose="020B0502040204020203" pitchFamily="34" charset="-120"/>
              </a:rPr>
              <a:t>1</a:t>
            </a:r>
            <a:endParaRPr lang="en-US" sz="1285" dirty="0"/>
          </a:p>
        </p:txBody>
      </p:sp>
      <p:sp>
        <p:nvSpPr>
          <p:cNvPr id="13" name="Text 3"/>
          <p:cNvSpPr/>
          <p:nvPr/>
        </p:nvSpPr>
        <p:spPr>
          <a:xfrm>
            <a:off x="3558480" y="1797929"/>
            <a:ext cx="125016" cy="231215"/>
          </a:xfrm>
          <a:prstGeom prst="rect">
            <a:avLst/>
          </a:prstGeom>
          <a:noFill/>
        </p:spPr>
        <p:txBody>
          <a:bodyPr wrap="none" lIns="0" tIns="0" rIns="0" bIns="0" rtlCol="0" anchor="t"/>
          <a:lstStyle/>
          <a:p>
            <a:pPr marL="0" indent="0" algn="l">
              <a:buNone/>
            </a:pPr>
            <a:r>
              <a:rPr lang="en-US" sz="1455" b="1" dirty="0">
                <a:solidFill>
                  <a:srgbClr val="FDFDFE"/>
                </a:solidFill>
                <a:latin typeface="Arial" panose="020B0604020202020204" pitchFamily="34" charset="0"/>
                <a:ea typeface="Arial" panose="020B0604020202020204" pitchFamily="34" charset="-122"/>
                <a:cs typeface="Arial" panose="020B0604020202020204" pitchFamily="34" charset="-120"/>
              </a:rPr>
              <a:t>2</a:t>
            </a:r>
            <a:endParaRPr lang="en-US" sz="1455" dirty="0"/>
          </a:p>
        </p:txBody>
      </p:sp>
      <p:sp>
        <p:nvSpPr>
          <p:cNvPr id="14" name="Text 4"/>
          <p:cNvSpPr/>
          <p:nvPr/>
        </p:nvSpPr>
        <p:spPr>
          <a:xfrm>
            <a:off x="6299895" y="1799143"/>
            <a:ext cx="120551" cy="212237"/>
          </a:xfrm>
          <a:prstGeom prst="rect">
            <a:avLst/>
          </a:prstGeom>
          <a:noFill/>
        </p:spPr>
        <p:txBody>
          <a:bodyPr wrap="none" lIns="0" tIns="0" rIns="0" bIns="0" rtlCol="0" anchor="t"/>
          <a:lstStyle/>
          <a:p>
            <a:pPr marL="0" indent="0" algn="l">
              <a:buNone/>
            </a:pPr>
            <a:r>
              <a:rPr lang="en-US" sz="1335" b="1" dirty="0">
                <a:solidFill>
                  <a:srgbClr val="FDFEFE"/>
                </a:solidFill>
                <a:latin typeface="Arial" panose="020B0604020202020204" pitchFamily="34" charset="0"/>
                <a:ea typeface="Arial" panose="020B0604020202020204" pitchFamily="34" charset="-122"/>
                <a:cs typeface="Arial" panose="020B0604020202020204" pitchFamily="34" charset="-120"/>
              </a:rPr>
              <a:t>3</a:t>
            </a:r>
            <a:endParaRPr lang="en-US" sz="1335" dirty="0"/>
          </a:p>
        </p:txBody>
      </p:sp>
      <p:sp>
        <p:nvSpPr>
          <p:cNvPr id="15" name="Text 5"/>
          <p:cNvSpPr/>
          <p:nvPr/>
        </p:nvSpPr>
        <p:spPr>
          <a:xfrm>
            <a:off x="1585020" y="2162759"/>
            <a:ext cx="392906" cy="618839"/>
          </a:xfrm>
          <a:prstGeom prst="rect">
            <a:avLst/>
          </a:prstGeom>
          <a:noFill/>
        </p:spPr>
        <p:txBody>
          <a:bodyPr wrap="none" lIns="0" tIns="0" rIns="0" bIns="0" rtlCol="0" anchor="t"/>
          <a:lstStyle/>
          <a:p>
            <a:pPr marL="0" indent="0" algn="l">
              <a:buNone/>
            </a:pPr>
            <a:r>
              <a:rPr lang="en-US" sz="3780" b="1" dirty="0">
                <a:solidFill>
                  <a:srgbClr val="F9FAF9"/>
                </a:solidFill>
                <a:latin typeface="Tahoma" panose="020B0604030504040204" pitchFamily="34" charset="0"/>
                <a:ea typeface="Tahoma" panose="020B0604030504040204" pitchFamily="34" charset="-122"/>
                <a:cs typeface="Tahoma" panose="020B0604030504040204" pitchFamily="34" charset="-120"/>
              </a:rPr>
              <a:t>+</a:t>
            </a:r>
            <a:endParaRPr lang="en-US" sz="3780" dirty="0"/>
          </a:p>
        </p:txBody>
      </p:sp>
      <p:sp>
        <p:nvSpPr>
          <p:cNvPr id="16" name="Text 6"/>
          <p:cNvSpPr/>
          <p:nvPr/>
        </p:nvSpPr>
        <p:spPr>
          <a:xfrm>
            <a:off x="696516" y="3175902"/>
            <a:ext cx="1580555" cy="257213"/>
          </a:xfrm>
          <a:prstGeom prst="rect">
            <a:avLst/>
          </a:prstGeom>
          <a:noFill/>
        </p:spPr>
        <p:txBody>
          <a:bodyPr wrap="square" lIns="0" tIns="0" rIns="0" bIns="0" rtlCol="0" anchor="t"/>
          <a:lstStyle/>
          <a:p>
            <a:pPr algn="l"/>
            <a:r>
              <a:rPr sz="1620" b="1">
                <a:solidFill>
                  <a:srgbClr val="03071D"/>
                </a:solidFill>
                <a:latin typeface="Segoe UI"/>
              </a:rPr>
              <a:t>Linear</a:t>
            </a:r>
          </a:p>
        </p:txBody>
      </p:sp>
      <p:sp>
        <p:nvSpPr>
          <p:cNvPr id="17" name="Text 7"/>
          <p:cNvSpPr/>
          <p:nvPr/>
        </p:nvSpPr>
        <p:spPr>
          <a:xfrm>
            <a:off x="3464719" y="3180017"/>
            <a:ext cx="1214438" cy="262670"/>
          </a:xfrm>
          <a:prstGeom prst="rect">
            <a:avLst/>
          </a:prstGeom>
          <a:noFill/>
        </p:spPr>
        <p:txBody>
          <a:bodyPr wrap="square" lIns="0" tIns="0" rIns="0" bIns="0" rtlCol="0" anchor="t"/>
          <a:lstStyle/>
          <a:p>
            <a:pPr algn="l"/>
            <a:r>
              <a:rPr sz="1655" b="1">
                <a:solidFill>
                  <a:srgbClr val="04081E"/>
                </a:solidFill>
                <a:latin typeface="Arial"/>
              </a:rPr>
              <a:t>Free-Flow</a:t>
            </a:r>
          </a:p>
        </p:txBody>
      </p:sp>
      <p:sp>
        <p:nvSpPr>
          <p:cNvPr id="18" name="Text 8"/>
          <p:cNvSpPr/>
          <p:nvPr/>
        </p:nvSpPr>
        <p:spPr>
          <a:xfrm>
            <a:off x="6241852" y="3171328"/>
            <a:ext cx="1620738" cy="258915"/>
          </a:xfrm>
          <a:prstGeom prst="rect">
            <a:avLst/>
          </a:prstGeom>
          <a:noFill/>
        </p:spPr>
        <p:txBody>
          <a:bodyPr wrap="square" lIns="0" tIns="0" rIns="0" bIns="0" rtlCol="0" anchor="t"/>
          <a:lstStyle/>
          <a:p>
            <a:pPr algn="l"/>
            <a:r>
              <a:rPr sz="1630" b="1">
                <a:solidFill>
                  <a:srgbClr val="04081E"/>
                </a:solidFill>
                <a:latin typeface="Segoe UI"/>
              </a:rPr>
              <a:t>Thematic</a:t>
            </a:r>
          </a:p>
        </p:txBody>
      </p:sp>
      <p:sp>
        <p:nvSpPr>
          <p:cNvPr id="19" name="Text 9"/>
          <p:cNvSpPr/>
          <p:nvPr/>
        </p:nvSpPr>
        <p:spPr>
          <a:xfrm>
            <a:off x="696516" y="3659462"/>
            <a:ext cx="2129730" cy="827706"/>
          </a:xfrm>
          <a:prstGeom prst="rect">
            <a:avLst/>
          </a:prstGeom>
          <a:noFill/>
        </p:spPr>
        <p:txBody>
          <a:bodyPr wrap="square" lIns="0" tIns="0" rIns="0" bIns="0" rtlCol="0" anchor="t"/>
          <a:lstStyle/>
          <a:p>
            <a:pPr algn="l"/>
            <a:r>
              <a:rPr sz="1045">
                <a:solidFill>
                  <a:srgbClr val="1D2131"/>
                </a:solidFill>
                <a:latin typeface="Arial"/>
              </a:rPr>
              <a:t>Alur kronologis yang runtut — umum pada museum sejarah.</a:t>
            </a:r>
          </a:p>
        </p:txBody>
      </p:sp>
      <p:sp>
        <p:nvSpPr>
          <p:cNvPr id="20" name="Text 10"/>
          <p:cNvSpPr/>
          <p:nvPr/>
        </p:nvSpPr>
        <p:spPr>
          <a:xfrm>
            <a:off x="3455789" y="3664345"/>
            <a:ext cx="2152055" cy="822823"/>
          </a:xfrm>
          <a:prstGeom prst="rect">
            <a:avLst/>
          </a:prstGeom>
          <a:noFill/>
        </p:spPr>
        <p:txBody>
          <a:bodyPr wrap="square" lIns="0" tIns="0" rIns="0" bIns="0" rtlCol="0" anchor="t"/>
          <a:lstStyle/>
          <a:p>
            <a:pPr algn="l"/>
            <a:r>
              <a:rPr sz="1005">
                <a:solidFill>
                  <a:srgbClr val="1D2131"/>
                </a:solidFill>
                <a:latin typeface="Arial"/>
              </a:rPr>
              <a:t>Eksplorasi bebas ke segala arah — khas galeri seni modern.</a:t>
            </a:r>
          </a:p>
        </p:txBody>
      </p:sp>
      <p:sp>
        <p:nvSpPr>
          <p:cNvPr id="21" name="Text 11"/>
          <p:cNvSpPr/>
          <p:nvPr/>
        </p:nvSpPr>
        <p:spPr>
          <a:xfrm>
            <a:off x="6237387" y="3660016"/>
            <a:ext cx="2080617" cy="831617"/>
          </a:xfrm>
          <a:prstGeom prst="rect">
            <a:avLst/>
          </a:prstGeom>
          <a:noFill/>
        </p:spPr>
        <p:txBody>
          <a:bodyPr wrap="square" lIns="0" tIns="0" rIns="0" bIns="0" rtlCol="0" anchor="t"/>
          <a:lstStyle/>
          <a:p>
            <a:pPr algn="l"/>
            <a:r>
              <a:rPr sz="995">
                <a:solidFill>
                  <a:srgbClr val="212535"/>
                </a:solidFill>
                <a:latin typeface="Arial"/>
              </a:rPr>
              <a:t>Dikelompokkan berdasarkan tema/ide, bukan urutan waktu.</a:t>
            </a:r>
          </a:p>
        </p:txBody>
      </p:sp>
      <p:sp>
        <p:nvSpPr>
          <p:cNvPr id="22" name="Rounded Rectangle 21"/>
          <p:cNvSpPr/>
          <p:nvPr/>
        </p:nvSpPr>
        <p:spPr>
          <a:xfrm>
            <a:off x="1005840" y="1783080"/>
            <a:ext cx="182880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749039" y="1783080"/>
            <a:ext cx="182880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400800" y="1783080"/>
            <a:ext cx="2103120" cy="13258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120140" y="2052828"/>
            <a:ext cx="868680" cy="868680"/>
          </a:xfrm>
          <a:prstGeom prst="ellipse">
            <a:avLst/>
          </a:prstGeom>
          <a:solidFill>
            <a:srgbClr val="2E5BB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Segoe UI Symbol"/>
              </a:rPr>
              <a:t>→</a:t>
            </a:r>
          </a:p>
        </p:txBody>
      </p:sp>
      <p:sp>
        <p:nvSpPr>
          <p:cNvPr id="26" name="Oval 25"/>
          <p:cNvSpPr/>
          <p:nvPr/>
        </p:nvSpPr>
        <p:spPr>
          <a:xfrm>
            <a:off x="3863340" y="2052828"/>
            <a:ext cx="868680" cy="868680"/>
          </a:xfrm>
          <a:prstGeom prst="ellipse">
            <a:avLst/>
          </a:prstGeom>
          <a:solidFill>
            <a:srgbClr val="2E5BB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Segoe UI Symbol"/>
              </a:rPr>
              <a:t>⇆</a:t>
            </a:r>
          </a:p>
        </p:txBody>
      </p:sp>
      <p:sp>
        <p:nvSpPr>
          <p:cNvPr id="27" name="Oval 26"/>
          <p:cNvSpPr/>
          <p:nvPr/>
        </p:nvSpPr>
        <p:spPr>
          <a:xfrm>
            <a:off x="6643116" y="2052828"/>
            <a:ext cx="868680" cy="868680"/>
          </a:xfrm>
          <a:prstGeom prst="ellipse">
            <a:avLst/>
          </a:prstGeom>
          <a:solidFill>
            <a:srgbClr val="2E5BBF"/>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Segoe UI Symbo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2"/>
          <p:cNvPicPr>
            <a:picLocks noChangeAspect="1"/>
          </p:cNvPicPr>
          <p:nvPr/>
        </p:nvPicPr>
        <p:blipFill>
          <a:blip r:embed="rId2"/>
          <a:stretch>
            <a:fillRect/>
          </a:stretch>
        </p:blipFill>
        <p:spPr>
          <a:xfrm>
            <a:off x="593824" y="3335238"/>
            <a:ext cx="473273" cy="477738"/>
          </a:xfrm>
          <a:prstGeom prst="rect">
            <a:avLst/>
          </a:prstGeom>
        </p:spPr>
      </p:pic>
      <p:pic>
        <p:nvPicPr>
          <p:cNvPr id="5" name="Image 3" descr="visual 5"/>
          <p:cNvPicPr>
            <a:picLocks noChangeAspect="1"/>
          </p:cNvPicPr>
          <p:nvPr/>
        </p:nvPicPr>
        <p:blipFill>
          <a:blip r:embed="rId4"/>
          <a:stretch>
            <a:fillRect/>
          </a:stretch>
        </p:blipFill>
        <p:spPr>
          <a:xfrm>
            <a:off x="687586" y="3464719"/>
            <a:ext cx="285750" cy="227707"/>
          </a:xfrm>
          <a:prstGeom prst="rect">
            <a:avLst/>
          </a:prstGeom>
        </p:spPr>
      </p:pic>
      <p:pic>
        <p:nvPicPr>
          <p:cNvPr id="6" name="Image 4" descr="visual 8"/>
          <p:cNvPicPr>
            <a:picLocks noChangeAspect="1"/>
          </p:cNvPicPr>
          <p:nvPr/>
        </p:nvPicPr>
        <p:blipFill>
          <a:blip r:embed="rId5"/>
          <a:stretch>
            <a:fillRect/>
          </a:stretch>
        </p:blipFill>
        <p:spPr>
          <a:xfrm>
            <a:off x="27432000" y="1777008"/>
            <a:ext cx="1580555" cy="1460004"/>
          </a:xfrm>
          <a:prstGeom prst="rect">
            <a:avLst/>
          </a:prstGeom>
        </p:spPr>
      </p:pic>
      <p:sp>
        <p:nvSpPr>
          <p:cNvPr id="7" name="Text 0"/>
          <p:cNvSpPr/>
          <p:nvPr/>
        </p:nvSpPr>
        <p:spPr>
          <a:xfrm>
            <a:off x="442020" y="403999"/>
            <a:ext cx="8090297" cy="454540"/>
          </a:xfrm>
          <a:prstGeom prst="rect">
            <a:avLst/>
          </a:prstGeom>
          <a:noFill/>
        </p:spPr>
        <p:txBody>
          <a:bodyPr wrap="square" lIns="0" tIns="0" rIns="0" bIns="0" rtlCol="0" anchor="t"/>
          <a:lstStyle/>
          <a:p>
            <a:pPr algn="l"/>
            <a:r>
              <a:rPr sz="2865" b="1">
                <a:solidFill>
                  <a:srgbClr val="11151B"/>
                </a:solidFill>
                <a:latin typeface="Segoe UI"/>
              </a:rPr>
              <a:t>Multimedia &amp; Teknologi Interaktif</a:t>
            </a:r>
          </a:p>
        </p:txBody>
      </p:sp>
      <p:sp>
        <p:nvSpPr>
          <p:cNvPr id="8" name="Text 1"/>
          <p:cNvSpPr/>
          <p:nvPr/>
        </p:nvSpPr>
        <p:spPr>
          <a:xfrm>
            <a:off x="781348" y="1350169"/>
            <a:ext cx="102691" cy="118765"/>
          </a:xfrm>
          <a:prstGeom prst="rect">
            <a:avLst/>
          </a:prstGeom>
          <a:noFill/>
        </p:spPr>
        <p:txBody>
          <a:bodyPr wrap="none" lIns="0" tIns="0" rIns="0" bIns="0" rtlCol="0" anchor="t"/>
          <a:lstStyle/>
          <a:p>
            <a:pPr marL="0" indent="0" algn="l">
              <a:buNone/>
            </a:pPr>
            <a:r>
              <a:rPr lang="en-US" sz="705" b="1" dirty="0">
                <a:solidFill>
                  <a:srgbClr val="FFFFFF"/>
                </a:solidFill>
                <a:latin typeface="Tahoma" panose="020B0604030504040204" pitchFamily="34" charset="0"/>
                <a:ea typeface="Tahoma" panose="020B0604030504040204" pitchFamily="34" charset="-122"/>
                <a:cs typeface="Tahoma" panose="020B0604030504040204" pitchFamily="34" charset="-120"/>
              </a:rPr>
              <a:t>+</a:t>
            </a:r>
            <a:endParaRPr lang="en-US" sz="705" dirty="0"/>
          </a:p>
        </p:txBody>
      </p:sp>
      <p:sp>
        <p:nvSpPr>
          <p:cNvPr id="9" name="Text 2"/>
          <p:cNvSpPr/>
          <p:nvPr/>
        </p:nvSpPr>
        <p:spPr>
          <a:xfrm>
            <a:off x="1357313" y="1349114"/>
            <a:ext cx="133945" cy="197865"/>
          </a:xfrm>
          <a:prstGeom prst="rect">
            <a:avLst/>
          </a:prstGeom>
          <a:noFill/>
        </p:spPr>
        <p:txBody>
          <a:bodyPr wrap="square" lIns="0" tIns="0" rIns="0" bIns="0" rtlCol="0" anchor="t"/>
          <a:lstStyle/>
          <a:p>
            <a:pPr algn="l"/>
            <a:r>
              <a:rPr sz="1245" b="1">
                <a:solidFill>
                  <a:srgbClr val="FFFFFF"/>
                </a:solidFill>
                <a:latin typeface="Segoe UI"/>
              </a:rPr>
              <a:t>1.</a:t>
            </a:r>
          </a:p>
        </p:txBody>
      </p:sp>
      <p:sp>
        <p:nvSpPr>
          <p:cNvPr id="10" name="Text 3"/>
          <p:cNvSpPr/>
          <p:nvPr/>
        </p:nvSpPr>
        <p:spPr>
          <a:xfrm>
            <a:off x="1692275" y="1231265"/>
            <a:ext cx="2732405" cy="206375"/>
          </a:xfrm>
          <a:prstGeom prst="rect">
            <a:avLst/>
          </a:prstGeom>
          <a:noFill/>
        </p:spPr>
        <p:txBody>
          <a:bodyPr wrap="square" lIns="0" tIns="0" rIns="0" bIns="0" rtlCol="0" anchor="t"/>
          <a:lstStyle/>
          <a:p>
            <a:pPr algn="l"/>
            <a:r>
              <a:rPr sz="1200" b="1">
                <a:solidFill>
                  <a:srgbClr val="0E121A"/>
                </a:solidFill>
                <a:latin typeface="Segoe UI"/>
              </a:rPr>
              <a:t>Teknologi memperkuat</a:t>
            </a:r>
          </a:p>
          <a:p>
            <a:pPr algn="l"/>
            <a:r>
              <a:rPr sz="1200" b="1">
                <a:solidFill>
                  <a:srgbClr val="0E121A"/>
                </a:solidFill>
                <a:latin typeface="Segoe UI"/>
              </a:rPr>
              <a:t>storytelling pameran</a:t>
            </a:r>
          </a:p>
        </p:txBody>
      </p:sp>
      <p:sp>
        <p:nvSpPr>
          <p:cNvPr id="13" name="Text 6"/>
          <p:cNvSpPr/>
          <p:nvPr/>
        </p:nvSpPr>
        <p:spPr>
          <a:xfrm>
            <a:off x="1209973" y="3492766"/>
            <a:ext cx="1227832" cy="189627"/>
          </a:xfrm>
          <a:prstGeom prst="rect">
            <a:avLst/>
          </a:prstGeom>
          <a:noFill/>
        </p:spPr>
        <p:txBody>
          <a:bodyPr wrap="square" lIns="0" tIns="0" rIns="0" bIns="0" rtlCol="0" anchor="t"/>
          <a:lstStyle/>
          <a:p>
            <a:pPr algn="l"/>
            <a:r>
              <a:rPr sz="1195" b="1">
                <a:solidFill>
                  <a:srgbClr val="0A429B"/>
                </a:solidFill>
                <a:latin typeface="Arial"/>
              </a:rPr>
              <a:t>Catatan Teknis</a:t>
            </a:r>
          </a:p>
        </p:txBody>
      </p:sp>
      <p:sp>
        <p:nvSpPr>
          <p:cNvPr id="14" name="Text 7"/>
          <p:cNvSpPr/>
          <p:nvPr/>
        </p:nvSpPr>
        <p:spPr>
          <a:xfrm>
            <a:off x="638473" y="3941191"/>
            <a:ext cx="3429000" cy="179860"/>
          </a:xfrm>
          <a:prstGeom prst="rect">
            <a:avLst/>
          </a:prstGeom>
          <a:noFill/>
        </p:spPr>
        <p:txBody>
          <a:bodyPr wrap="square" lIns="0" tIns="0" rIns="0" bIns="0" rtlCol="0" anchor="t"/>
          <a:lstStyle/>
          <a:p>
            <a:pPr algn="l"/>
            <a:r>
              <a:rPr sz="1005" b="1">
                <a:solidFill>
                  <a:srgbClr val="4478CC"/>
                </a:solidFill>
                <a:latin typeface="Arial"/>
              </a:rPr>
              <a:t>Teknologi harus menyatu dengan pengalaman:</a:t>
            </a:r>
          </a:p>
        </p:txBody>
      </p:sp>
      <p:sp>
        <p:nvSpPr>
          <p:cNvPr id="15" name="Text 8"/>
          <p:cNvSpPr/>
          <p:nvPr/>
        </p:nvSpPr>
        <p:spPr>
          <a:xfrm>
            <a:off x="919758" y="4177242"/>
            <a:ext cx="3580805" cy="403687"/>
          </a:xfrm>
          <a:prstGeom prst="rect">
            <a:avLst/>
          </a:prstGeom>
          <a:noFill/>
        </p:spPr>
        <p:txBody>
          <a:bodyPr wrap="square" lIns="0" tIns="0" rIns="0" bIns="0" rtlCol="0" anchor="t"/>
          <a:lstStyle/>
          <a:p>
            <a:pPr algn="l"/>
            <a:r>
              <a:rPr sz="1060">
                <a:solidFill>
                  <a:srgbClr val="030409"/>
                </a:solidFill>
                <a:latin typeface="Arial"/>
              </a:rPr>
              <a:t>perhatikan viewing distance, audio, loading, backup &amp; maintenance perangkat.</a:t>
            </a:r>
          </a:p>
        </p:txBody>
      </p:sp>
      <p:sp>
        <p:nvSpPr>
          <p:cNvPr id="16" name="Text 9"/>
          <p:cNvSpPr/>
          <p:nvPr/>
        </p:nvSpPr>
        <p:spPr>
          <a:xfrm>
            <a:off x="4362152" y="4409908"/>
            <a:ext cx="191988" cy="171021"/>
          </a:xfrm>
          <a:prstGeom prst="rect">
            <a:avLst/>
          </a:prstGeom>
          <a:noFill/>
        </p:spPr>
        <p:txBody>
          <a:bodyPr wrap="none" lIns="0" tIns="0" rIns="0" bIns="0" rtlCol="0" anchor="t"/>
          <a:lstStyle/>
          <a:p>
            <a:pPr marL="0" indent="0" algn="l">
              <a:buNone/>
            </a:pPr>
            <a:r>
              <a:rPr lang="en-US" sz="1015" dirty="0">
                <a:solidFill>
                  <a:srgbClr val="326ED1"/>
                </a:solidFill>
                <a:latin typeface="Arial" panose="020B0604020202020204" pitchFamily="34" charset="0"/>
                <a:ea typeface="Arial" panose="020B0604020202020204" pitchFamily="34" charset="-122"/>
                <a:cs typeface="Arial" panose="020B0604020202020204" pitchFamily="34" charset="-120"/>
              </a:rPr>
              <a:t>"</a:t>
            </a:r>
            <a:endParaRPr lang="en-US" sz="1015" dirty="0"/>
          </a:p>
        </p:txBody>
      </p:sp>
      <p:sp>
        <p:nvSpPr>
          <p:cNvPr id="17" name="Text Box 16"/>
          <p:cNvSpPr txBox="1"/>
          <p:nvPr/>
        </p:nvSpPr>
        <p:spPr>
          <a:xfrm>
            <a:off x="781050" y="2065655"/>
            <a:ext cx="3804285" cy="829945"/>
          </a:xfrm>
          <a:prstGeom prst="rect">
            <a:avLst/>
          </a:prstGeom>
        </p:spPr>
        <p:txBody>
          <a:bodyPr wrap="square">
            <a:spAutoFit/>
          </a:bodyPr>
          <a:p>
            <a:r>
              <a:rPr sz="1200" b="0" i="0">
                <a:latin typeface="Arial"/>
              </a:rPr>
              <a:t>Touchscreen untuk info mendalam, interactive timeline &amp; zoomable image, Augmented Reality untuk rekonstruksi digital, serta immersive soundscape pembangun emosi.</a:t>
            </a:r>
          </a:p>
        </p:txBody>
      </p:sp>
      <p:sp>
        <p:nvSpPr>
          <p:cNvPr id="18" name="Text 6"/>
          <p:cNvSpPr/>
          <p:nvPr/>
        </p:nvSpPr>
        <p:spPr>
          <a:xfrm>
            <a:off x="884218" y="1876056"/>
            <a:ext cx="1227832" cy="189627"/>
          </a:xfrm>
          <a:prstGeom prst="rect">
            <a:avLst/>
          </a:prstGeom>
          <a:noFill/>
        </p:spPr>
        <p:txBody>
          <a:bodyPr wrap="square" lIns="0" tIns="0" rIns="0" bIns="0" rtlCol="0" anchor="t"/>
          <a:lstStyle/>
          <a:p>
            <a:pPr algn="l"/>
          </a:p>
        </p:txBody>
      </p:sp>
      <p:pic>
        <p:nvPicPr>
          <p:cNvPr id="19" name="Picture 18" descr="s08_c.jpg"/>
          <p:cNvPicPr>
            <a:picLocks noChangeAspect="1"/>
          </p:cNvPicPr>
          <p:nvPr/>
        </p:nvPicPr>
        <p:blipFill>
          <a:blip r:embed="rId8"/>
          <a:stretch>
            <a:fillRect/>
          </a:stretch>
        </p:blipFill>
        <p:spPr>
          <a:xfrm>
            <a:off x="5808762" y="1701105"/>
            <a:ext cx="2286000" cy="3027164"/>
          </a:xfrm>
          <a:prstGeom prst="rect">
            <a:avLst/>
          </a:prstGeom>
        </p:spPr>
      </p:pic>
      <p:sp>
        <p:nvSpPr>
          <p:cNvPr id="20" name="Oval 19"/>
          <p:cNvSpPr/>
          <p:nvPr/>
        </p:nvSpPr>
        <p:spPr>
          <a:xfrm>
            <a:off x="557784" y="987552"/>
            <a:ext cx="530352" cy="530352"/>
          </a:xfrm>
          <a:prstGeom prst="ellipse">
            <a:avLst/>
          </a:prstGeom>
          <a:solidFill>
            <a:srgbClr val="1F6E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500" b="1">
                <a:solidFill>
                  <a:srgbClr val="FFFFFF"/>
                </a:solidFill>
                <a:latin typeface="Segoe UI Symbol"/>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27432000" y="2580680"/>
            <a:ext cx="834926" cy="825996"/>
          </a:xfrm>
          <a:prstGeom prst="rect">
            <a:avLst/>
          </a:prstGeom>
        </p:spPr>
      </p:pic>
      <p:pic>
        <p:nvPicPr>
          <p:cNvPr id="4" name="Image 2" descr="visual 2"/>
          <p:cNvPicPr>
            <a:picLocks noChangeAspect="1"/>
          </p:cNvPicPr>
          <p:nvPr/>
        </p:nvPicPr>
        <p:blipFill>
          <a:blip r:embed="rId3"/>
          <a:stretch>
            <a:fillRect/>
          </a:stretch>
        </p:blipFill>
        <p:spPr>
          <a:xfrm>
            <a:off x="27432000" y="1415355"/>
            <a:ext cx="834926" cy="821531"/>
          </a:xfrm>
          <a:prstGeom prst="rect">
            <a:avLst/>
          </a:prstGeom>
        </p:spPr>
      </p:pic>
      <p:sp>
        <p:nvSpPr>
          <p:cNvPr id="5" name="Text 0"/>
          <p:cNvSpPr/>
          <p:nvPr/>
        </p:nvSpPr>
        <p:spPr>
          <a:xfrm>
            <a:off x="558105" y="289178"/>
            <a:ext cx="8023324" cy="451986"/>
          </a:xfrm>
          <a:prstGeom prst="rect">
            <a:avLst/>
          </a:prstGeom>
          <a:noFill/>
        </p:spPr>
        <p:txBody>
          <a:bodyPr wrap="square" lIns="0" tIns="0" rIns="0" bIns="0" rtlCol="0" anchor="t"/>
          <a:lstStyle/>
          <a:p>
            <a:pPr algn="l"/>
            <a:r>
              <a:rPr sz="2740" b="1">
                <a:solidFill>
                  <a:srgbClr val="010100"/>
                </a:solidFill>
                <a:latin typeface="Segoe UI"/>
              </a:rPr>
              <a:t>Aksesibilitas &amp; Koneksi Emosional</a:t>
            </a:r>
          </a:p>
        </p:txBody>
      </p:sp>
      <p:sp>
        <p:nvSpPr>
          <p:cNvPr id="6" name="Text 1"/>
          <p:cNvSpPr/>
          <p:nvPr/>
        </p:nvSpPr>
        <p:spPr>
          <a:xfrm>
            <a:off x="638473" y="902198"/>
            <a:ext cx="183059" cy="274374"/>
          </a:xfrm>
          <a:prstGeom prst="rect">
            <a:avLst/>
          </a:prstGeom>
          <a:noFill/>
        </p:spPr>
        <p:txBody>
          <a:bodyPr wrap="square" lIns="0" tIns="0" rIns="0" bIns="0" rtlCol="0" anchor="t"/>
          <a:lstStyle/>
          <a:p>
            <a:pPr algn="l"/>
          </a:p>
        </p:txBody>
      </p:sp>
      <p:sp>
        <p:nvSpPr>
          <p:cNvPr id="7" name="Text 2"/>
          <p:cNvSpPr/>
          <p:nvPr/>
        </p:nvSpPr>
        <p:spPr>
          <a:xfrm>
            <a:off x="910273" y="881113"/>
            <a:ext cx="3370957" cy="270817"/>
          </a:xfrm>
          <a:prstGeom prst="rect">
            <a:avLst/>
          </a:prstGeom>
          <a:noFill/>
        </p:spPr>
        <p:txBody>
          <a:bodyPr wrap="square" lIns="0" tIns="0" rIns="0" bIns="0" rtlCol="0" anchor="t"/>
          <a:lstStyle/>
          <a:p>
            <a:pPr algn="l"/>
            <a:r>
              <a:rPr sz="1605" b="1">
                <a:solidFill>
                  <a:srgbClr val="044ACB"/>
                </a:solidFill>
                <a:latin typeface="Segoe UI"/>
              </a:rPr>
              <a:t>Desain inklusif untuk semua pengunjung</a:t>
            </a:r>
          </a:p>
        </p:txBody>
      </p:sp>
      <p:sp>
        <p:nvSpPr>
          <p:cNvPr id="8" name="Text 3"/>
          <p:cNvSpPr/>
          <p:nvPr/>
        </p:nvSpPr>
        <p:spPr>
          <a:xfrm>
            <a:off x="2250281" y="1483876"/>
            <a:ext cx="2232422" cy="254872"/>
          </a:xfrm>
          <a:prstGeom prst="rect">
            <a:avLst/>
          </a:prstGeom>
          <a:noFill/>
        </p:spPr>
        <p:txBody>
          <a:bodyPr wrap="square" lIns="0" tIns="0" rIns="0" bIns="0" rtlCol="0" anchor="t"/>
          <a:lstStyle/>
          <a:p>
            <a:pPr algn="l"/>
            <a:r>
              <a:rPr sz="1605" b="1">
                <a:solidFill>
                  <a:srgbClr val="010101"/>
                </a:solidFill>
                <a:latin typeface="Arial"/>
              </a:rPr>
              <a:t>Universal Design</a:t>
            </a:r>
          </a:p>
        </p:txBody>
      </p:sp>
      <p:sp>
        <p:nvSpPr>
          <p:cNvPr id="9" name="Text 4"/>
          <p:cNvSpPr/>
          <p:nvPr/>
        </p:nvSpPr>
        <p:spPr>
          <a:xfrm>
            <a:off x="2250281" y="1781257"/>
            <a:ext cx="4795242" cy="446700"/>
          </a:xfrm>
          <a:prstGeom prst="rect">
            <a:avLst/>
          </a:prstGeom>
          <a:noFill/>
        </p:spPr>
        <p:txBody>
          <a:bodyPr wrap="square" lIns="0" tIns="0" rIns="0" bIns="0" rtlCol="0" anchor="t"/>
          <a:lstStyle/>
          <a:p>
            <a:pPr algn="l"/>
            <a:r>
              <a:rPr sz="1340">
                <a:solidFill>
                  <a:srgbClr val="2D2929"/>
                </a:solidFill>
                <a:latin typeface="Arial"/>
              </a:rPr>
              <a:t>Akses kursi roda, jalur yang lebar, dan objek pada ketinggian bervariasi agar nyaman bagi semua.</a:t>
            </a:r>
          </a:p>
        </p:txBody>
      </p:sp>
      <p:sp>
        <p:nvSpPr>
          <p:cNvPr id="10" name="Text 5"/>
          <p:cNvSpPr/>
          <p:nvPr/>
        </p:nvSpPr>
        <p:spPr>
          <a:xfrm>
            <a:off x="2250281" y="2617762"/>
            <a:ext cx="1902023" cy="257751"/>
          </a:xfrm>
          <a:prstGeom prst="rect">
            <a:avLst/>
          </a:prstGeom>
          <a:noFill/>
        </p:spPr>
        <p:txBody>
          <a:bodyPr wrap="square" lIns="0" tIns="0" rIns="0" bIns="0" rtlCol="0" anchor="t"/>
          <a:lstStyle/>
          <a:p>
            <a:pPr algn="l"/>
            <a:r>
              <a:rPr sz="1625" b="1">
                <a:solidFill>
                  <a:srgbClr val="000000"/>
                </a:solidFill>
                <a:latin typeface="Arial"/>
              </a:rPr>
              <a:t>Tactile Exhibit</a:t>
            </a:r>
          </a:p>
        </p:txBody>
      </p:sp>
      <p:sp>
        <p:nvSpPr>
          <p:cNvPr id="11" name="Text 6"/>
          <p:cNvSpPr/>
          <p:nvPr/>
        </p:nvSpPr>
        <p:spPr>
          <a:xfrm>
            <a:off x="2250281" y="2924162"/>
            <a:ext cx="4960441" cy="455725"/>
          </a:xfrm>
          <a:prstGeom prst="rect">
            <a:avLst/>
          </a:prstGeom>
          <a:noFill/>
        </p:spPr>
        <p:txBody>
          <a:bodyPr wrap="square" lIns="0" tIns="0" rIns="0" bIns="0" rtlCol="0" anchor="t"/>
          <a:lstStyle/>
          <a:p>
            <a:pPr algn="l"/>
            <a:r>
              <a:rPr sz="1350">
                <a:solidFill>
                  <a:srgbClr val="31312D"/>
                </a:solidFill>
                <a:latin typeface="Arial"/>
              </a:rPr>
              <a:t>Replika yang boleh disentuh bagi pengunjung tunanetra — pengalaman melalui indera peraba.</a:t>
            </a:r>
          </a:p>
        </p:txBody>
      </p:sp>
      <p:sp>
        <p:nvSpPr>
          <p:cNvPr id="12" name="Text 7"/>
          <p:cNvSpPr/>
          <p:nvPr/>
        </p:nvSpPr>
        <p:spPr>
          <a:xfrm>
            <a:off x="2250281" y="3782904"/>
            <a:ext cx="1830586" cy="260596"/>
          </a:xfrm>
          <a:prstGeom prst="rect">
            <a:avLst/>
          </a:prstGeom>
          <a:noFill/>
        </p:spPr>
        <p:txBody>
          <a:bodyPr wrap="square" lIns="0" tIns="0" rIns="0" bIns="0" rtlCol="0" anchor="t"/>
          <a:lstStyle/>
          <a:p>
            <a:pPr algn="l"/>
            <a:r>
              <a:rPr sz="1640" b="1">
                <a:solidFill>
                  <a:srgbClr val="020202"/>
                </a:solidFill>
                <a:latin typeface="Arial"/>
              </a:rPr>
              <a:t>Koneksi Emosi</a:t>
            </a:r>
          </a:p>
        </p:txBody>
      </p:sp>
      <p:sp>
        <p:nvSpPr>
          <p:cNvPr id="13" name="Text 8"/>
          <p:cNvSpPr/>
          <p:nvPr/>
        </p:nvSpPr>
        <p:spPr>
          <a:xfrm>
            <a:off x="991195" y="4117908"/>
            <a:ext cx="84832" cy="52257"/>
          </a:xfrm>
          <a:prstGeom prst="rect">
            <a:avLst/>
          </a:prstGeom>
          <a:noFill/>
        </p:spPr>
        <p:txBody>
          <a:bodyPr wrap="none" lIns="0" tIns="0" rIns="0" bIns="0" rtlCol="0" anchor="t"/>
          <a:lstStyle/>
          <a:p>
            <a:pPr marL="0" indent="0" algn="l">
              <a:buNone/>
            </a:pPr>
            <a:r>
              <a:rPr lang="en-US" sz="310" dirty="0">
                <a:solidFill>
                  <a:srgbClr val="EDE9F9"/>
                </a:solidFill>
                <a:latin typeface="Arial" panose="020B0604020202020204" pitchFamily="34" charset="0"/>
                <a:ea typeface="Arial" panose="020B0604020202020204" pitchFamily="34" charset="-122"/>
                <a:cs typeface="Arial" panose="020B0604020202020204" pitchFamily="34" charset="-120"/>
              </a:rPr>
              <a:t>-</a:t>
            </a:r>
            <a:endParaRPr lang="en-US" sz="310" dirty="0"/>
          </a:p>
        </p:txBody>
      </p:sp>
      <p:sp>
        <p:nvSpPr>
          <p:cNvPr id="14" name="Text 9"/>
          <p:cNvSpPr/>
          <p:nvPr/>
        </p:nvSpPr>
        <p:spPr>
          <a:xfrm>
            <a:off x="1232297" y="4048542"/>
            <a:ext cx="187523" cy="166271"/>
          </a:xfrm>
          <a:prstGeom prst="rect">
            <a:avLst/>
          </a:prstGeom>
          <a:noFill/>
        </p:spPr>
        <p:txBody>
          <a:bodyPr wrap="none" lIns="0" tIns="0" rIns="0" bIns="0" rtlCol="0" anchor="t"/>
          <a:lstStyle/>
          <a:p>
            <a:pPr marL="0" indent="0" algn="l">
              <a:buNone/>
            </a:pPr>
            <a:r>
              <a:rPr lang="en-US" sz="985" b="1" i="1" dirty="0">
                <a:solidFill>
                  <a:srgbClr val="7155BD"/>
                </a:solidFill>
                <a:latin typeface="Segoe UI" panose="020B0502040204020203" pitchFamily="34" charset="0"/>
                <a:ea typeface="Segoe UI" panose="020B0502040204020203" pitchFamily="34" charset="-122"/>
                <a:cs typeface="Segoe UI" panose="020B0502040204020203" pitchFamily="34" charset="-120"/>
              </a:rPr>
              <a:t>V</a:t>
            </a:r>
            <a:endParaRPr lang="en-US" sz="985" dirty="0"/>
          </a:p>
        </p:txBody>
      </p:sp>
      <p:sp>
        <p:nvSpPr>
          <p:cNvPr id="15" name="Text 10"/>
          <p:cNvSpPr/>
          <p:nvPr/>
        </p:nvSpPr>
        <p:spPr>
          <a:xfrm>
            <a:off x="1562695" y="4122944"/>
            <a:ext cx="84832" cy="42755"/>
          </a:xfrm>
          <a:prstGeom prst="rect">
            <a:avLst/>
          </a:prstGeom>
          <a:noFill/>
        </p:spPr>
        <p:txBody>
          <a:bodyPr wrap="none" lIns="0" tIns="0" rIns="0" bIns="0" rtlCol="0" anchor="t"/>
          <a:lstStyle/>
          <a:p>
            <a:pPr marL="0" indent="0" algn="l">
              <a:buNone/>
            </a:pPr>
            <a:r>
              <a:rPr lang="en-US" sz="255" b="1" dirty="0">
                <a:solidFill>
                  <a:srgbClr val="E9E1F9"/>
                </a:solidFill>
                <a:latin typeface="Arial" panose="020B0604020202020204" pitchFamily="34" charset="0"/>
                <a:ea typeface="Arial" panose="020B0604020202020204" pitchFamily="34" charset="-122"/>
                <a:cs typeface="Arial" panose="020B0604020202020204" pitchFamily="34" charset="-120"/>
              </a:rPr>
              <a:t>-</a:t>
            </a:r>
            <a:endParaRPr lang="en-US" sz="255" dirty="0"/>
          </a:p>
        </p:txBody>
      </p:sp>
      <p:sp>
        <p:nvSpPr>
          <p:cNvPr id="16" name="Text 11"/>
          <p:cNvSpPr/>
          <p:nvPr/>
        </p:nvSpPr>
        <p:spPr>
          <a:xfrm>
            <a:off x="2250281" y="4085108"/>
            <a:ext cx="4996160" cy="442243"/>
          </a:xfrm>
          <a:prstGeom prst="rect">
            <a:avLst/>
          </a:prstGeom>
          <a:noFill/>
        </p:spPr>
        <p:txBody>
          <a:bodyPr wrap="square" lIns="0" tIns="0" rIns="0" bIns="0" rtlCol="0" anchor="t"/>
          <a:lstStyle/>
          <a:p>
            <a:pPr algn="l"/>
            <a:r>
              <a:rPr sz="1340">
                <a:solidFill>
                  <a:srgbClr val="2D2D2D"/>
                </a:solidFill>
                <a:latin typeface="Arial"/>
              </a:rPr>
              <a:t>Lewat storytelling &amp; kisah personal, pengunjung tak hanya terinformasi, tetapi terinspirasi &amp; mengingat pesan.</a:t>
            </a:r>
          </a:p>
        </p:txBody>
      </p:sp>
      <p:sp>
        <p:nvSpPr>
          <p:cNvPr id="17" name="Oval 16"/>
          <p:cNvSpPr/>
          <p:nvPr/>
        </p:nvSpPr>
        <p:spPr>
          <a:xfrm>
            <a:off x="905256" y="1417320"/>
            <a:ext cx="822960" cy="822960"/>
          </a:xfrm>
          <a:prstGeom prst="ellipse">
            <a:avLst/>
          </a:prstGeom>
          <a:solidFill>
            <a:srgbClr val="3B6FC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600" b="1">
                <a:solidFill>
                  <a:srgbClr val="FFFFFF"/>
                </a:solidFill>
                <a:latin typeface="Segoe UI Symbol"/>
              </a:rPr>
              <a:t>♿</a:t>
            </a:r>
          </a:p>
        </p:txBody>
      </p:sp>
      <p:sp>
        <p:nvSpPr>
          <p:cNvPr id="18" name="Oval 17"/>
          <p:cNvSpPr/>
          <p:nvPr/>
        </p:nvSpPr>
        <p:spPr>
          <a:xfrm>
            <a:off x="905256" y="2606039"/>
            <a:ext cx="822960" cy="822960"/>
          </a:xfrm>
          <a:prstGeom prst="ellipse">
            <a:avLst/>
          </a:prstGeom>
          <a:solidFill>
            <a:srgbClr val="2FA39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400" b="1">
                <a:solidFill>
                  <a:srgbClr val="FFFFFF"/>
                </a:solidFill>
                <a:latin typeface="Segoe UI Symbol"/>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27432000" y="3580805"/>
            <a:ext cx="236637" cy="241102"/>
          </a:xfrm>
          <a:prstGeom prst="rect">
            <a:avLst/>
          </a:prstGeom>
        </p:spPr>
      </p:pic>
      <p:pic>
        <p:nvPicPr>
          <p:cNvPr id="4" name="Image 2" descr="visual 3"/>
          <p:cNvPicPr>
            <a:picLocks noChangeAspect="1"/>
          </p:cNvPicPr>
          <p:nvPr/>
        </p:nvPicPr>
        <p:blipFill>
          <a:blip r:embed="rId3"/>
          <a:stretch>
            <a:fillRect/>
          </a:stretch>
        </p:blipFill>
        <p:spPr>
          <a:xfrm>
            <a:off x="27432000" y="4455914"/>
            <a:ext cx="258961" cy="209848"/>
          </a:xfrm>
          <a:prstGeom prst="rect">
            <a:avLst/>
          </a:prstGeom>
        </p:spPr>
      </p:pic>
      <p:pic>
        <p:nvPicPr>
          <p:cNvPr id="5" name="Image 3" descr="visual 5"/>
          <p:cNvPicPr>
            <a:picLocks noChangeAspect="1"/>
          </p:cNvPicPr>
          <p:nvPr/>
        </p:nvPicPr>
        <p:blipFill>
          <a:blip r:embed="rId4"/>
          <a:stretch>
            <a:fillRect/>
          </a:stretch>
        </p:blipFill>
        <p:spPr>
          <a:xfrm>
            <a:off x="27432000" y="4036219"/>
            <a:ext cx="267891" cy="191988"/>
          </a:xfrm>
          <a:prstGeom prst="rect">
            <a:avLst/>
          </a:prstGeom>
        </p:spPr>
      </p:pic>
      <p:pic>
        <p:nvPicPr>
          <p:cNvPr id="6" name="Image 4" descr="visual 6"/>
          <p:cNvPicPr>
            <a:picLocks noChangeAspect="1"/>
          </p:cNvPicPr>
          <p:nvPr/>
        </p:nvPicPr>
        <p:blipFill>
          <a:blip r:embed="rId5"/>
          <a:stretch>
            <a:fillRect/>
          </a:stretch>
        </p:blipFill>
        <p:spPr>
          <a:xfrm>
            <a:off x="27432000" y="2719090"/>
            <a:ext cx="245566" cy="236637"/>
          </a:xfrm>
          <a:prstGeom prst="rect">
            <a:avLst/>
          </a:prstGeom>
        </p:spPr>
      </p:pic>
      <p:pic>
        <p:nvPicPr>
          <p:cNvPr id="7" name="Image 5" descr="visual 7"/>
          <p:cNvPicPr>
            <a:picLocks noChangeAspect="1"/>
          </p:cNvPicPr>
          <p:nvPr/>
        </p:nvPicPr>
        <p:blipFill>
          <a:blip r:embed="rId6"/>
          <a:stretch>
            <a:fillRect/>
          </a:stretch>
        </p:blipFill>
        <p:spPr>
          <a:xfrm>
            <a:off x="27432000" y="2299395"/>
            <a:ext cx="254496" cy="223242"/>
          </a:xfrm>
          <a:prstGeom prst="rect">
            <a:avLst/>
          </a:prstGeom>
        </p:spPr>
      </p:pic>
      <p:pic>
        <p:nvPicPr>
          <p:cNvPr id="8" name="Image 6" descr="visual 8"/>
          <p:cNvPicPr>
            <a:picLocks noChangeAspect="1"/>
          </p:cNvPicPr>
          <p:nvPr/>
        </p:nvPicPr>
        <p:blipFill>
          <a:blip r:embed="rId7"/>
          <a:stretch>
            <a:fillRect/>
          </a:stretch>
        </p:blipFill>
        <p:spPr>
          <a:xfrm>
            <a:off x="754559" y="4460379"/>
            <a:ext cx="285750" cy="205383"/>
          </a:xfrm>
          <a:prstGeom prst="rect">
            <a:avLst/>
          </a:prstGeom>
        </p:spPr>
      </p:pic>
      <p:pic>
        <p:nvPicPr>
          <p:cNvPr id="9" name="Image 7" descr="visual 9"/>
          <p:cNvPicPr>
            <a:picLocks noChangeAspect="1"/>
          </p:cNvPicPr>
          <p:nvPr/>
        </p:nvPicPr>
        <p:blipFill>
          <a:blip r:embed="rId8"/>
          <a:stretch>
            <a:fillRect/>
          </a:stretch>
        </p:blipFill>
        <p:spPr>
          <a:xfrm>
            <a:off x="750094" y="2933402"/>
            <a:ext cx="294680" cy="424160"/>
          </a:xfrm>
          <a:prstGeom prst="rect">
            <a:avLst/>
          </a:prstGeom>
        </p:spPr>
      </p:pic>
      <p:pic>
        <p:nvPicPr>
          <p:cNvPr id="10" name="Image 8" descr="visual 10"/>
          <p:cNvPicPr>
            <a:picLocks noChangeAspect="1"/>
          </p:cNvPicPr>
          <p:nvPr/>
        </p:nvPicPr>
        <p:blipFill>
          <a:blip r:embed="rId9"/>
          <a:stretch>
            <a:fillRect/>
          </a:stretch>
        </p:blipFill>
        <p:spPr>
          <a:xfrm>
            <a:off x="759023" y="3594199"/>
            <a:ext cx="272355" cy="218777"/>
          </a:xfrm>
          <a:prstGeom prst="rect">
            <a:avLst/>
          </a:prstGeom>
        </p:spPr>
      </p:pic>
      <p:pic>
        <p:nvPicPr>
          <p:cNvPr id="11" name="Image 9" descr="visual 11"/>
          <p:cNvPicPr>
            <a:picLocks noChangeAspect="1"/>
          </p:cNvPicPr>
          <p:nvPr/>
        </p:nvPicPr>
        <p:blipFill>
          <a:blip r:embed="rId10"/>
          <a:stretch>
            <a:fillRect/>
          </a:stretch>
        </p:blipFill>
        <p:spPr>
          <a:xfrm>
            <a:off x="776883" y="4027289"/>
            <a:ext cx="232172" cy="218777"/>
          </a:xfrm>
          <a:prstGeom prst="rect">
            <a:avLst/>
          </a:prstGeom>
        </p:spPr>
      </p:pic>
      <p:pic>
        <p:nvPicPr>
          <p:cNvPr id="12" name="Image 10" descr="visual 13"/>
          <p:cNvPicPr>
            <a:picLocks noChangeAspect="1"/>
          </p:cNvPicPr>
          <p:nvPr/>
        </p:nvPicPr>
        <p:blipFill>
          <a:blip r:embed="rId11"/>
          <a:stretch>
            <a:fillRect/>
          </a:stretch>
        </p:blipFill>
        <p:spPr>
          <a:xfrm>
            <a:off x="27432000" y="3085207"/>
            <a:ext cx="495598" cy="370582"/>
          </a:xfrm>
          <a:prstGeom prst="rect">
            <a:avLst/>
          </a:prstGeom>
        </p:spPr>
      </p:pic>
      <p:pic>
        <p:nvPicPr>
          <p:cNvPr id="13" name="Image 11" descr="visual 14"/>
          <p:cNvPicPr>
            <a:picLocks noChangeAspect="1"/>
          </p:cNvPicPr>
          <p:nvPr/>
        </p:nvPicPr>
        <p:blipFill>
          <a:blip r:embed="rId12"/>
          <a:stretch>
            <a:fillRect/>
          </a:stretch>
        </p:blipFill>
        <p:spPr>
          <a:xfrm>
            <a:off x="27432000" y="2219027"/>
            <a:ext cx="504527" cy="375047"/>
          </a:xfrm>
          <a:prstGeom prst="rect">
            <a:avLst/>
          </a:prstGeom>
        </p:spPr>
      </p:pic>
      <p:pic>
        <p:nvPicPr>
          <p:cNvPr id="14" name="Image 12" descr="visual 15"/>
          <p:cNvPicPr>
            <a:picLocks noChangeAspect="1"/>
          </p:cNvPicPr>
          <p:nvPr/>
        </p:nvPicPr>
        <p:blipFill>
          <a:blip r:embed="rId13"/>
          <a:stretch>
            <a:fillRect/>
          </a:stretch>
        </p:blipFill>
        <p:spPr>
          <a:xfrm>
            <a:off x="27432000" y="3513832"/>
            <a:ext cx="508992" cy="567035"/>
          </a:xfrm>
          <a:prstGeom prst="rect">
            <a:avLst/>
          </a:prstGeom>
        </p:spPr>
      </p:pic>
      <p:pic>
        <p:nvPicPr>
          <p:cNvPr id="15" name="Image 13" descr="visual 16"/>
          <p:cNvPicPr>
            <a:picLocks noChangeAspect="1"/>
          </p:cNvPicPr>
          <p:nvPr/>
        </p:nvPicPr>
        <p:blipFill>
          <a:blip r:embed="rId14"/>
          <a:stretch>
            <a:fillRect/>
          </a:stretch>
        </p:blipFill>
        <p:spPr>
          <a:xfrm>
            <a:off x="27432000" y="2656582"/>
            <a:ext cx="504527" cy="602754"/>
          </a:xfrm>
          <a:prstGeom prst="rect">
            <a:avLst/>
          </a:prstGeom>
        </p:spPr>
      </p:pic>
      <p:pic>
        <p:nvPicPr>
          <p:cNvPr id="16" name="Image 14" descr="visual 18"/>
          <p:cNvPicPr>
            <a:picLocks noChangeAspect="1"/>
          </p:cNvPicPr>
          <p:nvPr/>
        </p:nvPicPr>
        <p:blipFill>
          <a:blip r:embed="rId15"/>
          <a:stretch>
            <a:fillRect/>
          </a:stretch>
        </p:blipFill>
        <p:spPr>
          <a:xfrm>
            <a:off x="642938" y="2933402"/>
            <a:ext cx="500063" cy="517922"/>
          </a:xfrm>
          <a:prstGeom prst="rect">
            <a:avLst/>
          </a:prstGeom>
        </p:spPr>
      </p:pic>
      <p:pic>
        <p:nvPicPr>
          <p:cNvPr id="17" name="Image 15" descr="visual 19"/>
          <p:cNvPicPr>
            <a:picLocks noChangeAspect="1"/>
          </p:cNvPicPr>
          <p:nvPr/>
        </p:nvPicPr>
        <p:blipFill>
          <a:blip r:embed="rId16"/>
          <a:stretch>
            <a:fillRect/>
          </a:stretch>
        </p:blipFill>
        <p:spPr>
          <a:xfrm>
            <a:off x="27432000" y="4371082"/>
            <a:ext cx="504527" cy="370582"/>
          </a:xfrm>
          <a:prstGeom prst="rect">
            <a:avLst/>
          </a:prstGeom>
        </p:spPr>
      </p:pic>
      <p:pic>
        <p:nvPicPr>
          <p:cNvPr id="18" name="Image 16" descr="visual 20"/>
          <p:cNvPicPr>
            <a:picLocks noChangeAspect="1"/>
          </p:cNvPicPr>
          <p:nvPr/>
        </p:nvPicPr>
        <p:blipFill>
          <a:blip r:embed="rId17"/>
          <a:stretch>
            <a:fillRect/>
          </a:stretch>
        </p:blipFill>
        <p:spPr>
          <a:xfrm>
            <a:off x="27432000" y="3942457"/>
            <a:ext cx="508992" cy="531316"/>
          </a:xfrm>
          <a:prstGeom prst="rect">
            <a:avLst/>
          </a:prstGeom>
        </p:spPr>
      </p:pic>
      <p:sp>
        <p:nvSpPr>
          <p:cNvPr id="19" name="Text 0"/>
          <p:cNvSpPr/>
          <p:nvPr/>
        </p:nvSpPr>
        <p:spPr>
          <a:xfrm>
            <a:off x="495598" y="244001"/>
            <a:ext cx="8081367" cy="443032"/>
          </a:xfrm>
          <a:prstGeom prst="rect">
            <a:avLst/>
          </a:prstGeom>
          <a:noFill/>
        </p:spPr>
        <p:txBody>
          <a:bodyPr wrap="square" lIns="0" tIns="0" rIns="0" bIns="0" rtlCol="0" anchor="t"/>
          <a:lstStyle/>
          <a:p>
            <a:pPr algn="l"/>
            <a:r>
              <a:rPr sz="2790" b="1">
                <a:solidFill>
                  <a:srgbClr val="010000"/>
                </a:solidFill>
                <a:latin typeface="Segoe UI"/>
              </a:rPr>
              <a:t>Pemetaan: Topik Video → Komponen</a:t>
            </a:r>
          </a:p>
        </p:txBody>
      </p:sp>
      <p:sp>
        <p:nvSpPr>
          <p:cNvPr id="20" name="Text 1"/>
          <p:cNvSpPr/>
          <p:nvPr/>
        </p:nvSpPr>
        <p:spPr>
          <a:xfrm>
            <a:off x="544671" y="842152"/>
            <a:ext cx="3205758" cy="235900"/>
          </a:xfrm>
          <a:prstGeom prst="rect">
            <a:avLst/>
          </a:prstGeom>
          <a:noFill/>
        </p:spPr>
        <p:txBody>
          <a:bodyPr wrap="square" lIns="0" tIns="0" rIns="0" bIns="0" rtlCol="0" anchor="t"/>
          <a:lstStyle/>
          <a:p>
            <a:pPr algn="l"/>
          </a:p>
        </p:txBody>
      </p:sp>
      <p:sp>
        <p:nvSpPr>
          <p:cNvPr id="21" name="Text 2"/>
          <p:cNvSpPr/>
          <p:nvPr/>
        </p:nvSpPr>
        <p:spPr>
          <a:xfrm>
            <a:off x="553641" y="1189263"/>
            <a:ext cx="5942707" cy="368112"/>
          </a:xfrm>
          <a:prstGeom prst="rect">
            <a:avLst/>
          </a:prstGeom>
          <a:noFill/>
        </p:spPr>
        <p:txBody>
          <a:bodyPr wrap="square" lIns="0" tIns="0" rIns="0" bIns="0" rtlCol="0" anchor="t"/>
          <a:lstStyle/>
          <a:p>
            <a:pPr algn="l"/>
            <a:r>
              <a:rPr sz="1160">
                <a:solidFill>
                  <a:srgbClr val="242933"/>
                </a:solidFill>
                <a:latin typeface="Arial"/>
              </a:rPr>
              <a:t>Analisis keterkaitan isi video dengan kerangka TRM532:</a:t>
            </a:r>
          </a:p>
        </p:txBody>
      </p:sp>
      <p:sp>
        <p:nvSpPr>
          <p:cNvPr id="22" name="Text 3"/>
          <p:cNvSpPr/>
          <p:nvPr/>
        </p:nvSpPr>
        <p:spPr>
          <a:xfrm>
            <a:off x="812602" y="1868091"/>
            <a:ext cx="75902" cy="118765"/>
          </a:xfrm>
          <a:prstGeom prst="rect">
            <a:avLst/>
          </a:prstGeom>
          <a:noFill/>
        </p:spPr>
        <p:txBody>
          <a:bodyPr wrap="none" lIns="0" tIns="0" rIns="0" bIns="0" rtlCol="0" anchor="t"/>
          <a:lstStyle/>
          <a:p>
            <a:pPr marL="0" indent="0" algn="l">
              <a:buNone/>
            </a:pPr>
            <a:r>
              <a:rPr lang="en-US" sz="705" b="1" dirty="0">
                <a:solidFill>
                  <a:srgbClr val="FEFEFE"/>
                </a:solidFill>
                <a:latin typeface="Georgia" panose="02040502050405020303" pitchFamily="34" charset="0"/>
                <a:ea typeface="Georgia" panose="02040502050405020303" pitchFamily="34" charset="-122"/>
                <a:cs typeface="Georgia" panose="02040502050405020303" pitchFamily="34" charset="-120"/>
              </a:rPr>
              <a:t>+</a:t>
            </a:r>
            <a:endParaRPr lang="en-US" sz="705" dirty="0"/>
          </a:p>
        </p:txBody>
      </p:sp>
      <p:sp>
        <p:nvSpPr>
          <p:cNvPr id="23" name="Text 4"/>
          <p:cNvSpPr/>
          <p:nvPr/>
        </p:nvSpPr>
        <p:spPr>
          <a:xfrm>
            <a:off x="1134070" y="1838430"/>
            <a:ext cx="1718965" cy="226259"/>
          </a:xfrm>
          <a:prstGeom prst="rect">
            <a:avLst/>
          </a:prstGeom>
          <a:noFill/>
        </p:spPr>
        <p:txBody>
          <a:bodyPr wrap="square" lIns="0" tIns="0" rIns="0" bIns="0" rtlCol="0" anchor="t"/>
          <a:lstStyle/>
          <a:p>
            <a:pPr algn="l"/>
            <a:r>
              <a:rPr sz="1425" b="1">
                <a:solidFill>
                  <a:srgbClr val="FFFFFF"/>
                </a:solidFill>
                <a:latin typeface="Arial"/>
              </a:rPr>
              <a:t>Topik dalam Video</a:t>
            </a:r>
          </a:p>
        </p:txBody>
      </p:sp>
      <p:sp>
        <p:nvSpPr>
          <p:cNvPr id="24" name="Text 5"/>
          <p:cNvSpPr/>
          <p:nvPr/>
        </p:nvSpPr>
        <p:spPr>
          <a:xfrm>
            <a:off x="5228332" y="1843547"/>
            <a:ext cx="1710035" cy="216065"/>
          </a:xfrm>
          <a:prstGeom prst="rect">
            <a:avLst/>
          </a:prstGeom>
          <a:noFill/>
        </p:spPr>
        <p:txBody>
          <a:bodyPr wrap="square" lIns="0" tIns="0" rIns="0" bIns="0" rtlCol="0" anchor="t"/>
          <a:lstStyle/>
          <a:p>
            <a:pPr algn="l"/>
            <a:r>
              <a:rPr sz="1360" b="1">
                <a:solidFill>
                  <a:srgbClr val="FFFFFF"/>
                </a:solidFill>
                <a:latin typeface="Arial"/>
              </a:rPr>
              <a:t>Komponen Perencanaan (TRM532)</a:t>
            </a:r>
          </a:p>
        </p:txBody>
      </p:sp>
      <p:sp>
        <p:nvSpPr>
          <p:cNvPr id="25" name="Text 6"/>
          <p:cNvSpPr/>
          <p:nvPr/>
        </p:nvSpPr>
        <p:spPr>
          <a:xfrm>
            <a:off x="834926" y="2353044"/>
            <a:ext cx="120551" cy="147268"/>
          </a:xfrm>
          <a:prstGeom prst="rect">
            <a:avLst/>
          </a:prstGeom>
          <a:noFill/>
        </p:spPr>
        <p:txBody>
          <a:bodyPr wrap="square" lIns="0" tIns="0" rIns="0" bIns="0" rtlCol="0" anchor="t"/>
          <a:lstStyle/>
          <a:p>
            <a:pPr algn="l"/>
          </a:p>
        </p:txBody>
      </p:sp>
      <p:sp>
        <p:nvSpPr>
          <p:cNvPr id="26" name="Text 7"/>
          <p:cNvSpPr/>
          <p:nvPr/>
        </p:nvSpPr>
        <p:spPr>
          <a:xfrm>
            <a:off x="1317129" y="2323698"/>
            <a:ext cx="2174379" cy="178364"/>
          </a:xfrm>
          <a:prstGeom prst="rect">
            <a:avLst/>
          </a:prstGeom>
          <a:noFill/>
        </p:spPr>
        <p:txBody>
          <a:bodyPr wrap="square" lIns="0" tIns="0" rIns="0" bIns="0" rtlCol="0" anchor="t"/>
          <a:lstStyle/>
          <a:p>
            <a:pPr algn="l"/>
            <a:r>
              <a:rPr sz="1125" b="1">
                <a:solidFill>
                  <a:srgbClr val="252A35"/>
                </a:solidFill>
                <a:latin typeface="Segoe UI"/>
              </a:rPr>
              <a:t>Space planning &amp; visitor flow</a:t>
            </a:r>
          </a:p>
        </p:txBody>
      </p:sp>
      <p:sp>
        <p:nvSpPr>
          <p:cNvPr id="27" name="Text 8"/>
          <p:cNvSpPr/>
          <p:nvPr/>
        </p:nvSpPr>
        <p:spPr>
          <a:xfrm>
            <a:off x="5482828" y="2324095"/>
            <a:ext cx="2518172" cy="172155"/>
          </a:xfrm>
          <a:prstGeom prst="rect">
            <a:avLst/>
          </a:prstGeom>
          <a:noFill/>
        </p:spPr>
        <p:txBody>
          <a:bodyPr wrap="square" lIns="0" tIns="0" rIns="0" bIns="0" rtlCol="0" anchor="t"/>
          <a:lstStyle/>
          <a:p>
            <a:pPr algn="l"/>
            <a:r>
              <a:rPr sz="1085" b="1">
                <a:solidFill>
                  <a:srgbClr val="223333"/>
                </a:solidFill>
              </a:rPr>
              <a:t>Ruang &amp; Alur</a:t>
            </a:r>
          </a:p>
        </p:txBody>
      </p:sp>
      <p:sp>
        <p:nvSpPr>
          <p:cNvPr id="28" name="Text 9"/>
          <p:cNvSpPr/>
          <p:nvPr/>
        </p:nvSpPr>
        <p:spPr>
          <a:xfrm>
            <a:off x="866180" y="2740702"/>
            <a:ext cx="84832" cy="94474"/>
          </a:xfrm>
          <a:prstGeom prst="rect">
            <a:avLst/>
          </a:prstGeom>
          <a:noFill/>
        </p:spPr>
        <p:txBody>
          <a:bodyPr wrap="square" lIns="0" tIns="0" rIns="0" bIns="0" rtlCol="0" anchor="t"/>
          <a:lstStyle/>
          <a:p>
            <a:pPr algn="l"/>
          </a:p>
        </p:txBody>
      </p:sp>
      <p:sp>
        <p:nvSpPr>
          <p:cNvPr id="29" name="Text 10"/>
          <p:cNvSpPr/>
          <p:nvPr/>
        </p:nvSpPr>
        <p:spPr>
          <a:xfrm>
            <a:off x="1312664" y="2747858"/>
            <a:ext cx="1544836" cy="181079"/>
          </a:xfrm>
          <a:prstGeom prst="rect">
            <a:avLst/>
          </a:prstGeom>
          <a:noFill/>
        </p:spPr>
        <p:txBody>
          <a:bodyPr wrap="square" lIns="0" tIns="0" rIns="0" bIns="0" rtlCol="0" anchor="t"/>
          <a:lstStyle/>
          <a:p>
            <a:pPr algn="l"/>
            <a:r>
              <a:rPr sz="1125" b="1">
                <a:solidFill>
                  <a:srgbClr val="252A34"/>
                </a:solidFill>
                <a:latin typeface="Segoe UI"/>
              </a:rPr>
              <a:t>Pencahayaan (lighting)</a:t>
            </a:r>
          </a:p>
        </p:txBody>
      </p:sp>
      <p:sp>
        <p:nvSpPr>
          <p:cNvPr id="30" name="Text 11"/>
          <p:cNvSpPr/>
          <p:nvPr/>
        </p:nvSpPr>
        <p:spPr>
          <a:xfrm>
            <a:off x="5474970" y="2676525"/>
            <a:ext cx="2720975" cy="196850"/>
          </a:xfrm>
          <a:prstGeom prst="rect">
            <a:avLst/>
          </a:prstGeom>
          <a:noFill/>
        </p:spPr>
        <p:txBody>
          <a:bodyPr wrap="square" lIns="0" tIns="0" rIns="0" bIns="0" rtlCol="0" anchor="t"/>
          <a:lstStyle/>
          <a:p>
            <a:pPr algn="l"/>
            <a:r>
              <a:rPr sz="1000" b="1">
                <a:solidFill>
                  <a:srgbClr val="223333"/>
                </a:solidFill>
                <a:latin typeface="Segoe UI"/>
              </a:rPr>
              <a:t>Visual &amp; Estetika</a:t>
            </a:r>
          </a:p>
        </p:txBody>
      </p:sp>
      <p:sp>
        <p:nvSpPr>
          <p:cNvPr id="31" name="Text 12"/>
          <p:cNvSpPr/>
          <p:nvPr/>
        </p:nvSpPr>
        <p:spPr>
          <a:xfrm>
            <a:off x="1299349" y="3180948"/>
            <a:ext cx="1995785" cy="178364"/>
          </a:xfrm>
          <a:prstGeom prst="rect">
            <a:avLst/>
          </a:prstGeom>
          <a:noFill/>
        </p:spPr>
        <p:txBody>
          <a:bodyPr wrap="square" lIns="0" tIns="0" rIns="0" bIns="0" rtlCol="0" anchor="t"/>
          <a:lstStyle/>
          <a:p>
            <a:pPr algn="l"/>
            <a:r>
              <a:rPr sz="1125" b="1">
                <a:solidFill>
                  <a:srgbClr val="252A34"/>
                </a:solidFill>
                <a:latin typeface="Segoe UI"/>
              </a:rPr>
              <a:t>Penempatan objek &amp; display</a:t>
            </a:r>
          </a:p>
        </p:txBody>
      </p:sp>
      <p:sp>
        <p:nvSpPr>
          <p:cNvPr id="32" name="Text 13"/>
          <p:cNvSpPr/>
          <p:nvPr/>
        </p:nvSpPr>
        <p:spPr>
          <a:xfrm>
            <a:off x="5482828" y="3185854"/>
            <a:ext cx="2111871" cy="176174"/>
          </a:xfrm>
          <a:prstGeom prst="rect">
            <a:avLst/>
          </a:prstGeom>
          <a:noFill/>
        </p:spPr>
        <p:txBody>
          <a:bodyPr wrap="square" lIns="0" tIns="0" rIns="0" bIns="0" rtlCol="0" anchor="t"/>
          <a:lstStyle/>
          <a:p>
            <a:pPr algn="l"/>
            <a:r>
              <a:rPr sz="1080" b="1">
                <a:solidFill>
                  <a:srgbClr val="223333"/>
                </a:solidFill>
                <a:latin typeface="Arial"/>
              </a:rPr>
              <a:t>Visual &amp; Estetika</a:t>
            </a:r>
          </a:p>
        </p:txBody>
      </p:sp>
      <p:sp>
        <p:nvSpPr>
          <p:cNvPr id="33" name="Text 14"/>
          <p:cNvSpPr/>
          <p:nvPr/>
        </p:nvSpPr>
        <p:spPr>
          <a:xfrm>
            <a:off x="1317129" y="3614406"/>
            <a:ext cx="1745754" cy="176246"/>
          </a:xfrm>
          <a:prstGeom prst="rect">
            <a:avLst/>
          </a:prstGeom>
          <a:noFill/>
        </p:spPr>
        <p:txBody>
          <a:bodyPr wrap="square" lIns="0" tIns="0" rIns="0" bIns="0" rtlCol="0" anchor="t"/>
          <a:lstStyle/>
          <a:p>
            <a:pPr algn="l"/>
            <a:r>
              <a:rPr sz="1085" b="1">
                <a:solidFill>
                  <a:srgbClr val="272C35"/>
                </a:solidFill>
                <a:latin typeface="Segoe UI"/>
              </a:rPr>
              <a:t>Multimedia &amp; interaktif</a:t>
            </a:r>
          </a:p>
        </p:txBody>
      </p:sp>
      <p:sp>
        <p:nvSpPr>
          <p:cNvPr id="34" name="Text 15"/>
          <p:cNvSpPr/>
          <p:nvPr/>
        </p:nvSpPr>
        <p:spPr>
          <a:xfrm>
            <a:off x="5482828" y="3609573"/>
            <a:ext cx="2058293" cy="178364"/>
          </a:xfrm>
          <a:prstGeom prst="rect">
            <a:avLst/>
          </a:prstGeom>
          <a:noFill/>
        </p:spPr>
        <p:txBody>
          <a:bodyPr wrap="square" lIns="0" tIns="0" rIns="0" bIns="0" rtlCol="0" anchor="t"/>
          <a:lstStyle/>
          <a:p>
            <a:pPr algn="l"/>
            <a:r>
              <a:rPr sz="1125" b="1">
                <a:solidFill>
                  <a:srgbClr val="223333"/>
                </a:solidFill>
                <a:latin typeface="Segoe UI"/>
              </a:rPr>
              <a:t>Visual &amp; Estetika + Ruang</a:t>
            </a:r>
          </a:p>
        </p:txBody>
      </p:sp>
      <p:sp>
        <p:nvSpPr>
          <p:cNvPr id="35" name="Text 16"/>
          <p:cNvSpPr/>
          <p:nvPr/>
        </p:nvSpPr>
        <p:spPr>
          <a:xfrm>
            <a:off x="1317129" y="4043104"/>
            <a:ext cx="1665387" cy="176174"/>
          </a:xfrm>
          <a:prstGeom prst="rect">
            <a:avLst/>
          </a:prstGeom>
          <a:noFill/>
        </p:spPr>
        <p:txBody>
          <a:bodyPr wrap="square" lIns="0" tIns="0" rIns="0" bIns="0" rtlCol="0" anchor="t"/>
          <a:lstStyle/>
          <a:p>
            <a:pPr algn="l"/>
            <a:r>
              <a:rPr sz="1080" b="1">
                <a:solidFill>
                  <a:srgbClr val="262B35"/>
                </a:solidFill>
                <a:latin typeface="Segoe UI"/>
              </a:rPr>
              <a:t>Aksesibilitas &amp; inklusif</a:t>
            </a:r>
          </a:p>
        </p:txBody>
      </p:sp>
      <p:sp>
        <p:nvSpPr>
          <p:cNvPr id="36" name="Text 17"/>
          <p:cNvSpPr/>
          <p:nvPr/>
        </p:nvSpPr>
        <p:spPr>
          <a:xfrm>
            <a:off x="5482828" y="4047382"/>
            <a:ext cx="1973461" cy="180825"/>
          </a:xfrm>
          <a:prstGeom prst="rect">
            <a:avLst/>
          </a:prstGeom>
          <a:noFill/>
        </p:spPr>
        <p:txBody>
          <a:bodyPr wrap="square" lIns="0" tIns="0" rIns="0" bIns="0" rtlCol="0" anchor="t"/>
          <a:lstStyle/>
          <a:p>
            <a:pPr algn="l"/>
            <a:r>
              <a:rPr sz="1100" b="1">
                <a:solidFill>
                  <a:srgbClr val="223333"/>
                </a:solidFill>
                <a:latin typeface="Segoe UI"/>
              </a:rPr>
              <a:t>Audiens &amp; Pesan</a:t>
            </a:r>
          </a:p>
        </p:txBody>
      </p:sp>
      <p:sp>
        <p:nvSpPr>
          <p:cNvPr id="37" name="Text 18"/>
          <p:cNvSpPr/>
          <p:nvPr/>
        </p:nvSpPr>
        <p:spPr>
          <a:xfrm>
            <a:off x="1317129" y="4471476"/>
            <a:ext cx="2085082" cy="176427"/>
          </a:xfrm>
          <a:prstGeom prst="rect">
            <a:avLst/>
          </a:prstGeom>
          <a:noFill/>
        </p:spPr>
        <p:txBody>
          <a:bodyPr wrap="square" lIns="0" tIns="0" rIns="0" bIns="0" rtlCol="0" anchor="t"/>
          <a:lstStyle/>
          <a:p>
            <a:pPr algn="l"/>
            <a:r>
              <a:rPr sz="1105" b="1">
                <a:solidFill>
                  <a:srgbClr val="242933"/>
                </a:solidFill>
                <a:latin typeface="Segoe UI"/>
              </a:rPr>
              <a:t>Emotional connection / storytelling</a:t>
            </a:r>
          </a:p>
        </p:txBody>
      </p:sp>
      <p:sp>
        <p:nvSpPr>
          <p:cNvPr id="38" name="Text 19"/>
          <p:cNvSpPr/>
          <p:nvPr/>
        </p:nvSpPr>
        <p:spPr>
          <a:xfrm>
            <a:off x="5487293" y="4471730"/>
            <a:ext cx="2116336" cy="171708"/>
          </a:xfrm>
          <a:prstGeom prst="rect">
            <a:avLst/>
          </a:prstGeom>
          <a:noFill/>
        </p:spPr>
        <p:txBody>
          <a:bodyPr wrap="square" lIns="0" tIns="0" rIns="0" bIns="0" rtlCol="0" anchor="t"/>
          <a:lstStyle/>
          <a:p>
            <a:pPr algn="l"/>
            <a:r>
              <a:rPr sz="1080" b="1">
                <a:solidFill>
                  <a:srgbClr val="223333"/>
                </a:solidFill>
                <a:latin typeface="Arial"/>
              </a:rPr>
              <a:t>Tema &amp; Tujuan + Audiens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0000">
            <a:alpha val="0"/>
          </a:srgbClr>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0" y="0"/>
            <a:ext cx="9144000" cy="5143500"/>
          </a:xfrm>
          <a:prstGeom prst="rect">
            <a:avLst/>
          </a:prstGeom>
        </p:spPr>
      </p:pic>
      <p:pic>
        <p:nvPicPr>
          <p:cNvPr id="3" name="Image 1" descr="visual 1"/>
          <p:cNvPicPr>
            <a:picLocks noChangeAspect="1"/>
          </p:cNvPicPr>
          <p:nvPr/>
        </p:nvPicPr>
        <p:blipFill>
          <a:blip r:embed="rId2"/>
          <a:stretch>
            <a:fillRect/>
          </a:stretch>
        </p:blipFill>
        <p:spPr>
          <a:xfrm>
            <a:off x="5397996" y="2955727"/>
            <a:ext cx="375047" cy="482203"/>
          </a:xfrm>
          <a:prstGeom prst="rect">
            <a:avLst/>
          </a:prstGeom>
        </p:spPr>
      </p:pic>
      <p:pic>
        <p:nvPicPr>
          <p:cNvPr id="4" name="Image 2" descr="visual 2"/>
          <p:cNvPicPr>
            <a:picLocks noChangeAspect="1"/>
          </p:cNvPicPr>
          <p:nvPr/>
        </p:nvPicPr>
        <p:blipFill>
          <a:blip r:embed="rId3"/>
          <a:stretch>
            <a:fillRect/>
          </a:stretch>
        </p:blipFill>
        <p:spPr>
          <a:xfrm>
            <a:off x="7188398" y="2790527"/>
            <a:ext cx="812602" cy="803672"/>
          </a:xfrm>
          <a:prstGeom prst="rect">
            <a:avLst/>
          </a:prstGeom>
        </p:spPr>
      </p:pic>
      <p:pic>
        <p:nvPicPr>
          <p:cNvPr id="5" name="Image 3" descr="visual 3"/>
          <p:cNvPicPr>
            <a:picLocks noChangeAspect="1"/>
          </p:cNvPicPr>
          <p:nvPr/>
        </p:nvPicPr>
        <p:blipFill>
          <a:blip r:embed="rId4"/>
          <a:stretch>
            <a:fillRect/>
          </a:stretch>
        </p:blipFill>
        <p:spPr>
          <a:xfrm>
            <a:off x="1138535" y="2790527"/>
            <a:ext cx="817066" cy="803672"/>
          </a:xfrm>
          <a:prstGeom prst="rect">
            <a:avLst/>
          </a:prstGeom>
        </p:spPr>
      </p:pic>
      <p:pic>
        <p:nvPicPr>
          <p:cNvPr id="6" name="Image 4" descr="visual 4"/>
          <p:cNvPicPr>
            <a:picLocks noChangeAspect="1"/>
          </p:cNvPicPr>
          <p:nvPr/>
        </p:nvPicPr>
        <p:blipFill>
          <a:blip r:embed="rId5"/>
          <a:stretch>
            <a:fillRect/>
          </a:stretch>
        </p:blipFill>
        <p:spPr>
          <a:xfrm>
            <a:off x="3147715" y="2790527"/>
            <a:ext cx="821531" cy="803672"/>
          </a:xfrm>
          <a:prstGeom prst="rect">
            <a:avLst/>
          </a:prstGeom>
        </p:spPr>
      </p:pic>
      <p:pic>
        <p:nvPicPr>
          <p:cNvPr id="7" name="Image 5" descr="visual 5"/>
          <p:cNvPicPr>
            <a:picLocks noChangeAspect="1"/>
          </p:cNvPicPr>
          <p:nvPr/>
        </p:nvPicPr>
        <p:blipFill>
          <a:blip r:embed="rId6"/>
          <a:stretch>
            <a:fillRect/>
          </a:stretch>
        </p:blipFill>
        <p:spPr>
          <a:xfrm>
            <a:off x="5170289" y="2790527"/>
            <a:ext cx="825996" cy="803672"/>
          </a:xfrm>
          <a:prstGeom prst="rect">
            <a:avLst/>
          </a:prstGeom>
        </p:spPr>
      </p:pic>
      <p:pic>
        <p:nvPicPr>
          <p:cNvPr id="8" name="Image 6" descr="visual 6"/>
          <p:cNvPicPr>
            <a:picLocks noChangeAspect="1"/>
          </p:cNvPicPr>
          <p:nvPr/>
        </p:nvPicPr>
        <p:blipFill>
          <a:blip r:embed="rId7"/>
          <a:stretch>
            <a:fillRect/>
          </a:stretch>
        </p:blipFill>
        <p:spPr>
          <a:xfrm>
            <a:off x="7442895" y="2960191"/>
            <a:ext cx="383977" cy="477738"/>
          </a:xfrm>
          <a:prstGeom prst="rect">
            <a:avLst/>
          </a:prstGeom>
        </p:spPr>
      </p:pic>
      <p:pic>
        <p:nvPicPr>
          <p:cNvPr id="9" name="Image 7" descr="visual 7"/>
          <p:cNvPicPr>
            <a:picLocks noChangeAspect="1"/>
          </p:cNvPicPr>
          <p:nvPr/>
        </p:nvPicPr>
        <p:blipFill>
          <a:blip r:embed="rId8"/>
          <a:stretch>
            <a:fillRect/>
          </a:stretch>
        </p:blipFill>
        <p:spPr>
          <a:xfrm>
            <a:off x="1299270" y="3009305"/>
            <a:ext cx="486668" cy="375047"/>
          </a:xfrm>
          <a:prstGeom prst="rect">
            <a:avLst/>
          </a:prstGeom>
        </p:spPr>
      </p:pic>
      <p:pic>
        <p:nvPicPr>
          <p:cNvPr id="10" name="Image 8" descr="visual 8"/>
          <p:cNvPicPr>
            <a:picLocks noChangeAspect="1"/>
          </p:cNvPicPr>
          <p:nvPr/>
        </p:nvPicPr>
        <p:blipFill>
          <a:blip r:embed="rId9"/>
          <a:stretch>
            <a:fillRect/>
          </a:stretch>
        </p:blipFill>
        <p:spPr>
          <a:xfrm>
            <a:off x="3321844" y="2955727"/>
            <a:ext cx="491133" cy="482203"/>
          </a:xfrm>
          <a:prstGeom prst="rect">
            <a:avLst/>
          </a:prstGeom>
        </p:spPr>
      </p:pic>
      <p:sp>
        <p:nvSpPr>
          <p:cNvPr id="11" name="Text 0"/>
          <p:cNvSpPr/>
          <p:nvPr/>
        </p:nvSpPr>
        <p:spPr>
          <a:xfrm>
            <a:off x="656332" y="422077"/>
            <a:ext cx="5058668" cy="520898"/>
          </a:xfrm>
          <a:prstGeom prst="rect">
            <a:avLst/>
          </a:prstGeom>
          <a:noFill/>
        </p:spPr>
        <p:txBody>
          <a:bodyPr wrap="none" lIns="0" tIns="0" rIns="0" bIns="0" rtlCol="0" anchor="t"/>
          <a:lstStyle/>
          <a:p>
            <a:pPr algn="l"/>
            <a:r>
              <a:rPr sz="3280" b="1">
                <a:solidFill>
                  <a:srgbClr val="010000"/>
                </a:solidFill>
                <a:latin typeface="Segoe UI"/>
              </a:rPr>
              <a:t>Periksa Pemahaman Anda!</a:t>
            </a:r>
          </a:p>
        </p:txBody>
      </p:sp>
      <p:sp>
        <p:nvSpPr>
          <p:cNvPr id="12" name="Text 1"/>
          <p:cNvSpPr/>
          <p:nvPr/>
        </p:nvSpPr>
        <p:spPr>
          <a:xfrm>
            <a:off x="848320" y="1237869"/>
            <a:ext cx="107156" cy="204276"/>
          </a:xfrm>
          <a:prstGeom prst="rect">
            <a:avLst/>
          </a:prstGeom>
          <a:noFill/>
        </p:spPr>
        <p:txBody>
          <a:bodyPr wrap="none" lIns="0" tIns="0" rIns="0" bIns="0" rtlCol="0" anchor="t"/>
          <a:lstStyle/>
          <a:p>
            <a:pPr marL="0" indent="0" algn="l">
              <a:buNone/>
            </a:pPr>
            <a:r>
              <a:rPr lang="en-US" sz="1210" b="1" dirty="0">
                <a:solidFill>
                  <a:srgbClr val="0929B9"/>
                </a:solidFill>
                <a:latin typeface="Arial" panose="020B0604020202020204" pitchFamily="34" charset="0"/>
                <a:ea typeface="Arial" panose="020B0604020202020204" pitchFamily="34" charset="-122"/>
                <a:cs typeface="Arial" panose="020B0604020202020204" pitchFamily="34" charset="-120"/>
              </a:rPr>
              <a:t>?</a:t>
            </a:r>
            <a:endParaRPr lang="en-US" sz="1210" dirty="0"/>
          </a:p>
        </p:txBody>
      </p:sp>
      <p:sp>
        <p:nvSpPr>
          <p:cNvPr id="13" name="Text 2"/>
          <p:cNvSpPr/>
          <p:nvPr/>
        </p:nvSpPr>
        <p:spPr>
          <a:xfrm>
            <a:off x="1294805" y="1225811"/>
            <a:ext cx="1263551" cy="240867"/>
          </a:xfrm>
          <a:prstGeom prst="rect">
            <a:avLst/>
          </a:prstGeom>
          <a:noFill/>
        </p:spPr>
        <p:txBody>
          <a:bodyPr wrap="square" lIns="0" tIns="0" rIns="0" bIns="0" rtlCol="0" anchor="t"/>
          <a:lstStyle/>
          <a:p>
            <a:pPr algn="l"/>
            <a:r>
              <a:rPr sz="1515" b="1">
                <a:solidFill>
                  <a:srgbClr val="011EB1"/>
                </a:solidFill>
                <a:latin typeface="Segoe UI"/>
              </a:rPr>
              <a:t>Pertanyaan 1</a:t>
            </a:r>
          </a:p>
        </p:txBody>
      </p:sp>
      <p:sp>
        <p:nvSpPr>
          <p:cNvPr id="14" name="Text 3"/>
          <p:cNvSpPr/>
          <p:nvPr/>
        </p:nvSpPr>
        <p:spPr>
          <a:xfrm>
            <a:off x="669727" y="1657648"/>
            <a:ext cx="6206133" cy="520898"/>
          </a:xfrm>
          <a:prstGeom prst="rect">
            <a:avLst/>
          </a:prstGeom>
          <a:noFill/>
        </p:spPr>
        <p:txBody>
          <a:bodyPr wrap="square" lIns="0" tIns="0" rIns="0" bIns="0" rtlCol="0" anchor="t"/>
          <a:lstStyle/>
          <a:p>
            <a:pPr algn="l"/>
            <a:r>
              <a:rPr sz="1640" b="1">
                <a:solidFill>
                  <a:srgbClr val="2D343B"/>
                </a:solidFill>
                <a:latin typeface="Segoe UI"/>
              </a:rPr>
              <a:t>Menurut video, tiga tipe tata letak (layout) pameran adalah…</a:t>
            </a:r>
          </a:p>
        </p:txBody>
      </p:sp>
      <p:sp>
        <p:nvSpPr>
          <p:cNvPr id="15" name="Text 4"/>
          <p:cNvSpPr/>
          <p:nvPr/>
        </p:nvSpPr>
        <p:spPr>
          <a:xfrm>
            <a:off x="821531" y="2645601"/>
            <a:ext cx="147340" cy="241343"/>
          </a:xfrm>
          <a:prstGeom prst="rect">
            <a:avLst/>
          </a:prstGeom>
          <a:noFill/>
        </p:spPr>
        <p:txBody>
          <a:bodyPr wrap="none" lIns="0" tIns="0" rIns="0" bIns="0" rtlCol="0" anchor="t"/>
          <a:lstStyle/>
          <a:p>
            <a:pPr marL="0" indent="0" algn="l">
              <a:buNone/>
            </a:pPr>
            <a:r>
              <a:rPr lang="en-US" sz="1520" b="1" dirty="0">
                <a:solidFill>
                  <a:srgbClr val="FFFFFF"/>
                </a:solidFill>
                <a:latin typeface="Tahoma" panose="020B0604030504040204" pitchFamily="34" charset="0"/>
                <a:ea typeface="Tahoma" panose="020B0604030504040204" pitchFamily="34" charset="-122"/>
                <a:cs typeface="Tahoma" panose="020B0604030504040204" pitchFamily="34" charset="-120"/>
              </a:rPr>
              <a:t>A</a:t>
            </a:r>
            <a:endParaRPr lang="en-US" sz="1520" dirty="0"/>
          </a:p>
        </p:txBody>
      </p:sp>
      <p:sp>
        <p:nvSpPr>
          <p:cNvPr id="16" name="Text 5"/>
          <p:cNvSpPr/>
          <p:nvPr/>
        </p:nvSpPr>
        <p:spPr>
          <a:xfrm>
            <a:off x="2848570" y="2645118"/>
            <a:ext cx="138410" cy="248885"/>
          </a:xfrm>
          <a:prstGeom prst="rect">
            <a:avLst/>
          </a:prstGeom>
          <a:noFill/>
        </p:spPr>
        <p:txBody>
          <a:bodyPr wrap="none" lIns="0" tIns="0" rIns="0" bIns="0" rtlCol="0" anchor="t"/>
          <a:lstStyle/>
          <a:p>
            <a:pPr marL="0" indent="0" algn="l">
              <a:buNone/>
            </a:pPr>
            <a:r>
              <a:rPr lang="en-US" sz="1570" b="1" dirty="0">
                <a:solidFill>
                  <a:srgbClr val="FFFFFE"/>
                </a:solidFill>
                <a:latin typeface="Tahoma" panose="020B0604030504040204" pitchFamily="34" charset="0"/>
                <a:ea typeface="Tahoma" panose="020B0604030504040204" pitchFamily="34" charset="-122"/>
                <a:cs typeface="Tahoma" panose="020B0604030504040204" pitchFamily="34" charset="-120"/>
              </a:rPr>
              <a:t>B</a:t>
            </a:r>
            <a:endParaRPr lang="en-US" sz="1570" dirty="0"/>
          </a:p>
        </p:txBody>
      </p:sp>
      <p:sp>
        <p:nvSpPr>
          <p:cNvPr id="17" name="Text 6"/>
          <p:cNvSpPr/>
          <p:nvPr/>
        </p:nvSpPr>
        <p:spPr>
          <a:xfrm>
            <a:off x="4853285" y="2641543"/>
            <a:ext cx="147340" cy="234992"/>
          </a:xfrm>
          <a:prstGeom prst="rect">
            <a:avLst/>
          </a:prstGeom>
          <a:noFill/>
        </p:spPr>
        <p:txBody>
          <a:bodyPr wrap="none" lIns="0" tIns="0" rIns="0" bIns="0" rtlCol="0" anchor="t"/>
          <a:lstStyle/>
          <a:p>
            <a:pPr marL="0" indent="0" algn="l">
              <a:buNone/>
            </a:pPr>
            <a:r>
              <a:rPr lang="en-US" sz="1480" b="1" dirty="0">
                <a:solidFill>
                  <a:srgbClr val="FBFCFE"/>
                </a:solidFill>
                <a:latin typeface="Tahoma" panose="020B0604030504040204" pitchFamily="34" charset="0"/>
                <a:ea typeface="Tahoma" panose="020B0604030504040204" pitchFamily="34" charset="-122"/>
                <a:cs typeface="Tahoma" panose="020B0604030504040204" pitchFamily="34" charset="-120"/>
              </a:rPr>
              <a:t>C</a:t>
            </a:r>
            <a:endParaRPr lang="en-US" sz="1480" dirty="0"/>
          </a:p>
        </p:txBody>
      </p:sp>
      <p:sp>
        <p:nvSpPr>
          <p:cNvPr id="18" name="Text 7"/>
          <p:cNvSpPr/>
          <p:nvPr/>
        </p:nvSpPr>
        <p:spPr>
          <a:xfrm>
            <a:off x="6880324" y="2644482"/>
            <a:ext cx="151805" cy="258832"/>
          </a:xfrm>
          <a:prstGeom prst="rect">
            <a:avLst/>
          </a:prstGeom>
          <a:noFill/>
        </p:spPr>
        <p:txBody>
          <a:bodyPr wrap="none" lIns="0" tIns="0" rIns="0" bIns="0" rtlCol="0" anchor="t"/>
          <a:lstStyle/>
          <a:p>
            <a:pPr marL="0" indent="0" algn="l">
              <a:buNone/>
            </a:pPr>
            <a:r>
              <a:rPr lang="en-US" sz="1630" b="1" dirty="0">
                <a:solidFill>
                  <a:srgbClr val="FFFFFF"/>
                </a:solidFill>
                <a:latin typeface="Arial" panose="020B0604020202020204" pitchFamily="34" charset="0"/>
                <a:ea typeface="Arial" panose="020B0604020202020204" pitchFamily="34" charset="-122"/>
                <a:cs typeface="Arial" panose="020B0604020202020204" pitchFamily="34" charset="-120"/>
              </a:rPr>
              <a:t>D</a:t>
            </a:r>
            <a:endParaRPr lang="en-US" sz="1630" dirty="0"/>
          </a:p>
        </p:txBody>
      </p:sp>
      <p:sp>
        <p:nvSpPr>
          <p:cNvPr id="19" name="Text 8"/>
          <p:cNvSpPr/>
          <p:nvPr/>
        </p:nvSpPr>
        <p:spPr>
          <a:xfrm>
            <a:off x="937617" y="3867797"/>
            <a:ext cx="1093887" cy="601511"/>
          </a:xfrm>
          <a:prstGeom prst="rect">
            <a:avLst/>
          </a:prstGeom>
          <a:noFill/>
        </p:spPr>
        <p:txBody>
          <a:bodyPr wrap="square" lIns="0" tIns="0" rIns="0" bIns="0" rtlCol="0" anchor="t"/>
          <a:lstStyle/>
          <a:p>
            <a:pPr algn="l"/>
            <a:r>
              <a:rPr sz="1195" b="1">
                <a:solidFill>
                  <a:srgbClr val="0B0B0B"/>
                </a:solidFill>
                <a:latin typeface="Segoe UI"/>
              </a:rPr>
              <a:t>Linear, Free-flow, dan Thematic.</a:t>
            </a:r>
          </a:p>
        </p:txBody>
      </p:sp>
      <p:sp>
        <p:nvSpPr>
          <p:cNvPr id="20" name="Text 9"/>
          <p:cNvSpPr/>
          <p:nvPr/>
        </p:nvSpPr>
        <p:spPr>
          <a:xfrm>
            <a:off x="2937867" y="3872262"/>
            <a:ext cx="1143000" cy="601511"/>
          </a:xfrm>
          <a:prstGeom prst="rect">
            <a:avLst/>
          </a:prstGeom>
          <a:noFill/>
        </p:spPr>
        <p:txBody>
          <a:bodyPr wrap="square" lIns="0" tIns="0" rIns="0" bIns="0" rtlCol="0" anchor="t"/>
          <a:lstStyle/>
          <a:p>
            <a:pPr algn="l"/>
            <a:r>
              <a:rPr sz="1195" b="1">
                <a:solidFill>
                  <a:srgbClr val="0C0B0C"/>
                </a:solidFill>
                <a:latin typeface="Segoe UI"/>
              </a:rPr>
              <a:t>Besar, sedang, dan kecil.</a:t>
            </a:r>
          </a:p>
        </p:txBody>
      </p:sp>
      <p:sp>
        <p:nvSpPr>
          <p:cNvPr id="21" name="Text 10"/>
          <p:cNvSpPr/>
          <p:nvPr/>
        </p:nvSpPr>
        <p:spPr>
          <a:xfrm>
            <a:off x="4902398" y="3872145"/>
            <a:ext cx="1357313" cy="597164"/>
          </a:xfrm>
          <a:prstGeom prst="rect">
            <a:avLst/>
          </a:prstGeom>
          <a:noFill/>
        </p:spPr>
        <p:txBody>
          <a:bodyPr wrap="square" lIns="0" tIns="0" rIns="0" bIns="0" rtlCol="0" anchor="t"/>
          <a:lstStyle/>
          <a:p>
            <a:pPr algn="l"/>
            <a:r>
              <a:rPr sz="1210" b="1">
                <a:solidFill>
                  <a:srgbClr val="0D0D0C"/>
                </a:solidFill>
                <a:latin typeface="Segoe UI"/>
              </a:rPr>
              <a:t>Pagi, siang, dan malam.</a:t>
            </a:r>
          </a:p>
        </p:txBody>
      </p:sp>
      <p:sp>
        <p:nvSpPr>
          <p:cNvPr id="22" name="Text 11"/>
          <p:cNvSpPr/>
          <p:nvPr/>
        </p:nvSpPr>
        <p:spPr>
          <a:xfrm>
            <a:off x="6920508" y="3867567"/>
            <a:ext cx="1120676" cy="391894"/>
          </a:xfrm>
          <a:prstGeom prst="rect">
            <a:avLst/>
          </a:prstGeom>
          <a:noFill/>
        </p:spPr>
        <p:txBody>
          <a:bodyPr wrap="square" lIns="0" tIns="0" rIns="0" bIns="0" rtlCol="0" anchor="t"/>
          <a:lstStyle/>
          <a:p>
            <a:pPr algn="l"/>
            <a:r>
              <a:rPr sz="1220" b="1">
                <a:solidFill>
                  <a:srgbClr val="0E0D0D"/>
                </a:solidFill>
                <a:latin typeface="Segoe UI"/>
              </a:rPr>
              <a:t>Merah, kuning, hijau.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96153" y="1280800"/>
            <a:ext cx="8151602" cy="443027"/>
          </a:xfrm>
          <a:prstGeom prst="rect">
            <a:avLst/>
          </a:prstGeom>
          <a:noFill/>
        </p:spPr>
        <p:txBody>
          <a:bodyPr wrap="square" lIns="0" tIns="0" rIns="0" bIns="0" rtlCol="0" anchor="ctr"/>
          <a:lstStyle/>
          <a:p>
            <a:pPr algn="l"/>
            <a:r>
              <a:rPr sz="2790" b="1">
                <a:solidFill>
                  <a:srgbClr val="000000"/>
                </a:solidFill>
                <a:latin typeface="Heebo"/>
              </a:rPr>
              <a:t>Periksa Pemahaman Anda!</a:t>
            </a:r>
          </a:p>
        </p:txBody>
      </p:sp>
      <p:sp>
        <p:nvSpPr>
          <p:cNvPr id="3" name="Text 1"/>
          <p:cNvSpPr/>
          <p:nvPr/>
        </p:nvSpPr>
        <p:spPr>
          <a:xfrm>
            <a:off x="496153" y="1936516"/>
            <a:ext cx="8151602" cy="221468"/>
          </a:xfrm>
          <a:prstGeom prst="rect">
            <a:avLst/>
          </a:prstGeom>
          <a:noFill/>
        </p:spPr>
        <p:txBody>
          <a:bodyPr wrap="square" lIns="0" tIns="0" rIns="0" bIns="0" rtlCol="0" anchor="ctr"/>
          <a:lstStyle/>
          <a:p>
            <a:pPr algn="l"/>
            <a:r>
              <a:rPr sz="1395" b="1">
                <a:solidFill>
                  <a:srgbClr val="000000"/>
                </a:solidFill>
                <a:latin typeface="Heebo"/>
              </a:rPr>
              <a:t>Pertanyaan 2</a:t>
            </a:r>
          </a:p>
        </p:txBody>
      </p:sp>
      <p:sp>
        <p:nvSpPr>
          <p:cNvPr id="4" name="Text 2"/>
          <p:cNvSpPr/>
          <p:nvPr/>
        </p:nvSpPr>
        <p:spPr>
          <a:xfrm>
            <a:off x="496153" y="2370673"/>
            <a:ext cx="8151602" cy="226771"/>
          </a:xfrm>
          <a:prstGeom prst="rect">
            <a:avLst/>
          </a:prstGeom>
          <a:noFill/>
        </p:spPr>
        <p:txBody>
          <a:bodyPr wrap="square" lIns="0" tIns="0" rIns="0" bIns="0" rtlCol="0" anchor="ctr"/>
          <a:lstStyle/>
          <a:p>
            <a:pPr algn="l"/>
            <a:r>
              <a:rPr sz="1115">
                <a:solidFill>
                  <a:srgbClr val="000000"/>
                </a:solidFill>
                <a:latin typeface="Roboto"/>
              </a:rPr>
              <a:t>Manakah yang BUKAN peran utama pencahayaan dalam pameran?</a:t>
            </a:r>
          </a:p>
        </p:txBody>
      </p:sp>
      <p:sp>
        <p:nvSpPr>
          <p:cNvPr id="5" name="Text 3"/>
          <p:cNvSpPr/>
          <p:nvPr/>
        </p:nvSpPr>
        <p:spPr>
          <a:xfrm>
            <a:off x="496153" y="2756916"/>
            <a:ext cx="8151602" cy="226771"/>
          </a:xfrm>
          <a:prstGeom prst="rect">
            <a:avLst/>
          </a:prstGeom>
          <a:noFill/>
        </p:spPr>
        <p:txBody>
          <a:bodyPr wrap="square" lIns="0" tIns="0" rIns="0" bIns="0" rtlCol="0" anchor="ctr"/>
          <a:lstStyle/>
          <a:p>
            <a:pPr algn="l"/>
            <a:r>
              <a:rPr sz="1115">
                <a:solidFill>
                  <a:srgbClr val="000000"/>
                </a:solidFill>
                <a:latin typeface="Roboto"/>
              </a:rPr>
              <a:t>A. Menyorot dan menonjolkan karya utama.</a:t>
            </a:r>
          </a:p>
        </p:txBody>
      </p:sp>
      <p:sp>
        <p:nvSpPr>
          <p:cNvPr id="6" name="Text 4"/>
          <p:cNvSpPr/>
          <p:nvPr/>
        </p:nvSpPr>
        <p:spPr>
          <a:xfrm>
            <a:off x="496153" y="3033339"/>
            <a:ext cx="8151602" cy="226771"/>
          </a:xfrm>
          <a:prstGeom prst="rect">
            <a:avLst/>
          </a:prstGeom>
          <a:noFill/>
        </p:spPr>
        <p:txBody>
          <a:bodyPr wrap="square" lIns="0" tIns="0" rIns="0" bIns="0" rtlCol="0" anchor="ctr"/>
          <a:lstStyle/>
          <a:p>
            <a:pPr algn="l"/>
            <a:r>
              <a:rPr sz="1115">
                <a:solidFill>
                  <a:srgbClr val="000000"/>
                </a:solidFill>
                <a:latin typeface="Roboto"/>
              </a:rPr>
              <a:t>B. Membuat pengunjung tidak bisa melihat apa pun.</a:t>
            </a:r>
          </a:p>
        </p:txBody>
      </p:sp>
      <p:sp>
        <p:nvSpPr>
          <p:cNvPr id="7" name="Text 5"/>
          <p:cNvSpPr/>
          <p:nvPr/>
        </p:nvSpPr>
        <p:spPr>
          <a:xfrm>
            <a:off x="496153" y="3309762"/>
            <a:ext cx="8151602" cy="226771"/>
          </a:xfrm>
          <a:prstGeom prst="rect">
            <a:avLst/>
          </a:prstGeom>
          <a:noFill/>
        </p:spPr>
        <p:txBody>
          <a:bodyPr wrap="square" lIns="0" tIns="0" rIns="0" bIns="0" rtlCol="0" anchor="ctr"/>
          <a:lstStyle/>
          <a:p>
            <a:pPr algn="l"/>
            <a:r>
              <a:rPr sz="1115">
                <a:solidFill>
                  <a:srgbClr val="000000"/>
                </a:solidFill>
                <a:latin typeface="Roboto"/>
              </a:rPr>
              <a:t>C. Membangun suasana (ambient).</a:t>
            </a:r>
          </a:p>
        </p:txBody>
      </p:sp>
      <p:sp>
        <p:nvSpPr>
          <p:cNvPr id="8" name="Text 6"/>
          <p:cNvSpPr/>
          <p:nvPr/>
        </p:nvSpPr>
        <p:spPr>
          <a:xfrm>
            <a:off x="496153" y="3586185"/>
            <a:ext cx="8151602" cy="226771"/>
          </a:xfrm>
          <a:prstGeom prst="rect">
            <a:avLst/>
          </a:prstGeom>
          <a:noFill/>
        </p:spPr>
        <p:txBody>
          <a:bodyPr wrap="square" lIns="0" tIns="0" rIns="0" bIns="0" rtlCol="0" anchor="ctr"/>
          <a:lstStyle/>
          <a:p>
            <a:pPr algn="l"/>
            <a:r>
              <a:rPr sz="1115">
                <a:solidFill>
                  <a:srgbClr val="000000"/>
                </a:solidFill>
                <a:latin typeface="Roboto"/>
              </a:rPr>
              <a:t>D. Membantu melindungi artefak yang sensitif.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96153" y="742036"/>
            <a:ext cx="8151602" cy="443027"/>
          </a:xfrm>
          <a:prstGeom prst="rect">
            <a:avLst/>
          </a:prstGeom>
          <a:noFill/>
        </p:spPr>
        <p:txBody>
          <a:bodyPr wrap="square" lIns="0" tIns="0" rIns="0" bIns="0" rtlCol="0" anchor="ctr"/>
          <a:lstStyle/>
          <a:p>
            <a:pPr algn="l"/>
            <a:r>
              <a:rPr sz="2790" b="1">
                <a:solidFill>
                  <a:srgbClr val="000000"/>
                </a:solidFill>
                <a:latin typeface="Heebo"/>
              </a:rPr>
              <a:t>Jawaban Pertanyaan 2</a:t>
            </a:r>
          </a:p>
        </p:txBody>
      </p:sp>
      <p:sp>
        <p:nvSpPr>
          <p:cNvPr id="4" name="Text 1"/>
          <p:cNvSpPr/>
          <p:nvPr/>
        </p:nvSpPr>
        <p:spPr>
          <a:xfrm>
            <a:off x="496153" y="1397752"/>
            <a:ext cx="8151602" cy="221468"/>
          </a:xfrm>
          <a:prstGeom prst="rect">
            <a:avLst/>
          </a:prstGeom>
          <a:noFill/>
        </p:spPr>
        <p:txBody>
          <a:bodyPr wrap="square" lIns="0" tIns="0" rIns="0" bIns="0" rtlCol="0" anchor="ctr"/>
          <a:lstStyle/>
          <a:p>
            <a:pPr algn="l"/>
            <a:r>
              <a:rPr sz="1395" b="1">
                <a:solidFill>
                  <a:srgbClr val="000000"/>
                </a:solidFill>
                <a:latin typeface="Heebo"/>
              </a:rPr>
              <a:t>Jawaban yang Benar: B. Membuat pengunjung tidak bisa melihat apa pun.</a:t>
            </a:r>
          </a:p>
        </p:txBody>
      </p:sp>
      <p:sp>
        <p:nvSpPr>
          <p:cNvPr id="5" name="Text 2"/>
          <p:cNvSpPr/>
          <p:nvPr/>
        </p:nvSpPr>
        <p:spPr>
          <a:xfrm>
            <a:off x="496153" y="1831909"/>
            <a:ext cx="8151602" cy="453634"/>
          </a:xfrm>
          <a:prstGeom prst="rect">
            <a:avLst/>
          </a:prstGeom>
          <a:noFill/>
        </p:spPr>
        <p:txBody>
          <a:bodyPr wrap="square" lIns="0" tIns="0" rIns="0" bIns="0" rtlCol="0" anchor="ctr"/>
          <a:lstStyle/>
          <a:p>
            <a:pPr algn="l"/>
            <a:r>
              <a:rPr sz="1115">
                <a:solidFill>
                  <a:srgbClr val="000000"/>
                </a:solidFill>
                <a:latin typeface="Roboto"/>
              </a:rPr>
              <a:t>Tepat! Justru sebaliknya — pencahayaan yang baik menyorot karya, membangun suasana, dan melindungi artefak. Ruang gelap total bukan tujuan desain cahaya.</a:t>
            </a:r>
          </a:p>
        </p:txBody>
      </p:sp>
      <p:pic>
        <p:nvPicPr>
          <p:cNvPr id="6" name="Picture 5" descr="s13_c.jpg"/>
          <p:cNvPicPr>
            <a:picLocks noChangeAspect="1"/>
          </p:cNvPicPr>
          <p:nvPr/>
        </p:nvPicPr>
        <p:blipFill>
          <a:blip r:embed="rId4"/>
          <a:stretch>
            <a:fillRect/>
          </a:stretch>
        </p:blipFill>
        <p:spPr>
          <a:xfrm>
            <a:off x="3267791" y="2445014"/>
            <a:ext cx="2608417" cy="195635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Text 0"/>
          <p:cNvSpPr/>
          <p:nvPr/>
        </p:nvSpPr>
        <p:spPr>
          <a:xfrm>
            <a:off x="496153" y="845820"/>
            <a:ext cx="8151602" cy="443027"/>
          </a:xfrm>
          <a:prstGeom prst="rect">
            <a:avLst/>
          </a:prstGeom>
          <a:noFill/>
        </p:spPr>
        <p:txBody>
          <a:bodyPr wrap="square" lIns="0" tIns="0" rIns="0" bIns="0" rtlCol="0" anchor="ctr"/>
          <a:lstStyle/>
          <a:p>
            <a:pPr algn="l"/>
            <a:r>
              <a:rPr sz="2790" b="1">
                <a:solidFill>
                  <a:srgbClr val="000000"/>
                </a:solidFill>
                <a:latin typeface="Heebo"/>
              </a:rPr>
              <a:t>Kesimpulan</a:t>
            </a:r>
          </a:p>
        </p:txBody>
      </p:sp>
      <p:sp>
        <p:nvSpPr>
          <p:cNvPr id="4" name="Text 1"/>
          <p:cNvSpPr/>
          <p:nvPr/>
        </p:nvSpPr>
        <p:spPr>
          <a:xfrm>
            <a:off x="496153" y="1501445"/>
            <a:ext cx="8151602" cy="680405"/>
          </a:xfrm>
          <a:prstGeom prst="rect">
            <a:avLst/>
          </a:prstGeom>
          <a:noFill/>
        </p:spPr>
        <p:txBody>
          <a:bodyPr wrap="square" lIns="0" tIns="0" rIns="0" bIns="0" rtlCol="0" anchor="ctr"/>
          <a:lstStyle/>
          <a:p>
            <a:pPr algn="l"/>
            <a:r>
              <a:rPr sz="1115">
                <a:solidFill>
                  <a:srgbClr val="000000"/>
                </a:solidFill>
                <a:latin typeface="Roboto"/>
              </a:rPr>
              <a:t>Desain pameran yang baik menyatukan ruang, cahaya, penempatan objek, teknologi, aksesibilitas, dan storytelling untuk menciptakan pengalaman yang emosional &amp; bermakna. Prinsip ini selaras dengan kerangka perencanaan pameran TRM532 — panduan merancang pameran multimedia yang immersive dan tepat sasaran.</a:t>
            </a:r>
          </a:p>
        </p:txBody>
      </p:sp>
      <p:pic>
        <p:nvPicPr>
          <p:cNvPr id="5" name="Picture 4" descr="s14_c.jpg"/>
          <p:cNvPicPr>
            <a:picLocks noChangeAspect="1"/>
          </p:cNvPicPr>
          <p:nvPr/>
        </p:nvPicPr>
        <p:blipFill>
          <a:blip r:embed="rId4"/>
          <a:stretch>
            <a:fillRect/>
          </a:stretch>
        </p:blipFill>
        <p:spPr>
          <a:xfrm>
            <a:off x="3267791" y="2341413"/>
            <a:ext cx="2608417" cy="19563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5760</Words>
  <Application>WPS Presentation</Application>
  <PresentationFormat>On-screen Show (16:9)</PresentationFormat>
  <Paragraphs>296</Paragraphs>
  <Slides>14</Slides>
  <Notes>13</Notes>
  <HiddenSlides>0</HiddenSlides>
  <MMClips>0</MMClips>
  <ScaleCrop>false</ScaleCrop>
  <HeadingPairs>
    <vt:vector size="6" baseType="variant">
      <vt:variant>
        <vt:lpstr>已用的字体</vt:lpstr>
      </vt:variant>
      <vt:variant>
        <vt:i4>33</vt:i4>
      </vt:variant>
      <vt:variant>
        <vt:lpstr>主题</vt:lpstr>
      </vt:variant>
      <vt:variant>
        <vt:i4>2</vt:i4>
      </vt:variant>
      <vt:variant>
        <vt:lpstr>幻灯片标题</vt:lpstr>
      </vt:variant>
      <vt:variant>
        <vt:i4>14</vt:i4>
      </vt:variant>
    </vt:vector>
  </HeadingPairs>
  <TitlesOfParts>
    <vt:vector size="49" baseType="lpstr">
      <vt:lpstr>Arial</vt:lpstr>
      <vt:lpstr>SimSun</vt:lpstr>
      <vt:lpstr>Wingdings</vt:lpstr>
      <vt:lpstr>Heebo</vt:lpstr>
      <vt:lpstr>Segoe Print</vt:lpstr>
      <vt:lpstr>Heebo</vt:lpstr>
      <vt:lpstr>Heebo</vt:lpstr>
      <vt:lpstr>Segoe UI</vt:lpstr>
      <vt:lpstr>Segoe UI</vt:lpstr>
      <vt:lpstr>Segoe UI</vt:lpstr>
      <vt:lpstr>Arial</vt:lpstr>
      <vt:lpstr>Arial</vt:lpstr>
      <vt:lpstr>Courier New</vt:lpstr>
      <vt:lpstr>Courier New</vt:lpstr>
      <vt:lpstr>Courier New</vt:lpstr>
      <vt:lpstr>Times New Roman</vt:lpstr>
      <vt:lpstr>Times New Roman</vt:lpstr>
      <vt:lpstr>Times New Roman</vt:lpstr>
      <vt:lpstr>Tahoma</vt:lpstr>
      <vt:lpstr>Tahoma</vt:lpstr>
      <vt:lpstr>Tahoma</vt:lpstr>
      <vt:lpstr>Inter</vt:lpstr>
      <vt:lpstr>Georgia</vt:lpstr>
      <vt:lpstr>Georgia</vt:lpstr>
      <vt:lpstr>Georgia</vt:lpstr>
      <vt:lpstr>Georgia</vt:lpstr>
      <vt:lpstr>Roboto</vt:lpstr>
      <vt:lpstr>Roboto</vt:lpstr>
      <vt:lpstr>Roboto</vt:lpstr>
      <vt:lpstr>Calibri</vt:lpstr>
      <vt:lpstr>Microsoft YaHei</vt:lpstr>
      <vt:lpstr>Arial Unicode MS</vt:lpstr>
      <vt:lpstr>MingLiU-ExtB</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Kelahiran Baru</dc:title>
  <dc:creator>PptxGenJS</dc:creator>
  <dc:subject>PptxGenJS Presentation</dc:subject>
  <cp:lastModifiedBy>User</cp:lastModifiedBy>
  <cp:revision>5</cp:revision>
  <dcterms:created xsi:type="dcterms:W3CDTF">2026-08-31T17:44:00Z</dcterms:created>
  <dcterms:modified xsi:type="dcterms:W3CDTF">2026-09-02T11:45:56Z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1033-12.1.0.28032</vt:lpwstr>
  </property>
  <property fmtid="{D5CDD505-2E9C-101B-9397-08002B2CF9AE}" pid="3" name="ICV">
    <vt:lpwstr>9508EB2F5C3D4AB7976994C121D45E86_13</vt:lpwstr>
  </property>
</Properties>
</file>